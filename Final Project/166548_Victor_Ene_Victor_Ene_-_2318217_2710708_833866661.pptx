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7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8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9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0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1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2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3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2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1" r:id="rId12"/>
    <p:sldId id="266" r:id="rId13"/>
    <p:sldId id="267" r:id="rId14"/>
    <p:sldId id="273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B468"/>
    <a:srgbClr val="38B0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>
        <p:scale>
          <a:sx n="87" d="100"/>
          <a:sy n="87" d="100"/>
        </p:scale>
        <p:origin x="704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ata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ata7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ata8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ata9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ata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ata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ata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ata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ata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720856-93F0-4CC7-B7FD-2466914A11D4}" type="doc">
      <dgm:prSet loTypeId="urn:microsoft.com/office/officeart/2018/5/layout/IconLeafLabelList" loCatId="icon" qsTypeId="urn:microsoft.com/office/officeart/2005/8/quickstyle/simple4" qsCatId="simple" csTypeId="urn:microsoft.com/office/officeart/2018/5/colors/Iconchunking_neutralicon_colorful5" csCatId="colorful" phldr="1"/>
      <dgm:spPr/>
    </dgm:pt>
    <dgm:pt modelId="{29BB62C3-8DAE-49E7-A154-FB8CDD20BD56}" type="pres">
      <dgm:prSet presAssocID="{C7720856-93F0-4CC7-B7FD-2466914A11D4}" presName="root" presStyleCnt="0">
        <dgm:presLayoutVars>
          <dgm:dir/>
          <dgm:resizeHandles val="exact"/>
        </dgm:presLayoutVars>
      </dgm:prSet>
      <dgm:spPr/>
    </dgm:pt>
  </dgm:ptLst>
  <dgm:cxnLst>
    <dgm:cxn modelId="{656B1851-13C8-4201-B702-5947529A0870}" type="presOf" srcId="{C7720856-93F0-4CC7-B7FD-2466914A11D4}" destId="{29BB62C3-8DAE-49E7-A154-FB8CDD20BD56}" srcOrd="0" destOrd="0" presId="urn:microsoft.com/office/officeart/2018/5/layout/IconLeafLabelList"/>
  </dgm:cxnLst>
  <dgm:bg>
    <a:blipFill>
      <a:blip xmlns:r="http://schemas.openxmlformats.org/officeDocument/2006/relationships" r:embed="rId1">
        <a:extLst>
          <a:ext uri="{28A0092B-C50C-407E-A947-70E740481C1C}">
            <a14:useLocalDpi xmlns:a14="http://schemas.microsoft.com/office/drawing/2010/main" val="0"/>
          </a:ext>
        </a:extLst>
      </a:blip>
      <a:stretch>
        <a:fillRect/>
      </a:stretch>
    </a:blipFill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720856-93F0-4CC7-B7FD-2466914A11D4}" type="doc">
      <dgm:prSet loTypeId="urn:microsoft.com/office/officeart/2018/5/layout/IconLeafLabelList" loCatId="icon" qsTypeId="urn:microsoft.com/office/officeart/2005/8/quickstyle/simple4" qsCatId="simple" csTypeId="urn:microsoft.com/office/officeart/2018/5/colors/Iconchunking_neutralicon_colorful5" csCatId="colorful" phldr="1"/>
      <dgm:spPr/>
    </dgm:pt>
    <dgm:pt modelId="{29BB62C3-8DAE-49E7-A154-FB8CDD20BD56}" type="pres">
      <dgm:prSet presAssocID="{C7720856-93F0-4CC7-B7FD-2466914A11D4}" presName="root" presStyleCnt="0">
        <dgm:presLayoutVars>
          <dgm:dir/>
          <dgm:resizeHandles val="exact"/>
        </dgm:presLayoutVars>
      </dgm:prSet>
      <dgm:spPr/>
    </dgm:pt>
  </dgm:ptLst>
  <dgm:cxnLst>
    <dgm:cxn modelId="{656B1851-13C8-4201-B702-5947529A0870}" type="presOf" srcId="{C7720856-93F0-4CC7-B7FD-2466914A11D4}" destId="{29BB62C3-8DAE-49E7-A154-FB8CDD20BD56}" srcOrd="0" destOrd="0" presId="urn:microsoft.com/office/officeart/2018/5/layout/IconLeafLabelList"/>
  </dgm:cxnLst>
  <dgm:bg>
    <a:blipFill>
      <a:blip xmlns:r="http://schemas.openxmlformats.org/officeDocument/2006/relationships" r:embed="rId1">
        <a:extLst>
          <a:ext uri="{28A0092B-C50C-407E-A947-70E740481C1C}">
            <a14:useLocalDpi xmlns:a14="http://schemas.microsoft.com/office/drawing/2010/main" val="0"/>
          </a:ext>
        </a:extLst>
      </a:blip>
      <a:stretch>
        <a:fillRect/>
      </a:stretch>
    </a:blip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7720856-93F0-4CC7-B7FD-2466914A11D4}" type="doc">
      <dgm:prSet loTypeId="urn:microsoft.com/office/officeart/2018/5/layout/IconLeafLabelList" loCatId="icon" qsTypeId="urn:microsoft.com/office/officeart/2005/8/quickstyle/simple4" qsCatId="simple" csTypeId="urn:microsoft.com/office/officeart/2018/5/colors/Iconchunking_neutralicon_colorful5" csCatId="colorful" phldr="1"/>
      <dgm:spPr/>
    </dgm:pt>
    <dgm:pt modelId="{29BB62C3-8DAE-49E7-A154-FB8CDD20BD56}" type="pres">
      <dgm:prSet presAssocID="{C7720856-93F0-4CC7-B7FD-2466914A11D4}" presName="root" presStyleCnt="0">
        <dgm:presLayoutVars>
          <dgm:dir/>
          <dgm:resizeHandles val="exact"/>
        </dgm:presLayoutVars>
      </dgm:prSet>
      <dgm:spPr/>
    </dgm:pt>
  </dgm:ptLst>
  <dgm:cxnLst>
    <dgm:cxn modelId="{656B1851-13C8-4201-B702-5947529A0870}" type="presOf" srcId="{C7720856-93F0-4CC7-B7FD-2466914A11D4}" destId="{29BB62C3-8DAE-49E7-A154-FB8CDD20BD56}" srcOrd="0" destOrd="0" presId="urn:microsoft.com/office/officeart/2018/5/layout/IconLeafLabelList"/>
  </dgm:cxnLst>
  <dgm:bg>
    <a:blipFill>
      <a:blip xmlns:r="http://schemas.openxmlformats.org/officeDocument/2006/relationships" r:embed="rId1">
        <a:extLst>
          <a:ext uri="{28A0092B-C50C-407E-A947-70E740481C1C}">
            <a14:useLocalDpi xmlns:a14="http://schemas.microsoft.com/office/drawing/2010/main" val="0"/>
          </a:ext>
        </a:extLst>
      </a:blip>
      <a:stretch>
        <a:fillRect/>
      </a:stretch>
    </a:blip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720856-93F0-4CC7-B7FD-2466914A11D4}" type="doc">
      <dgm:prSet loTypeId="urn:microsoft.com/office/officeart/2018/5/layout/IconLeafLabelList" loCatId="icon" qsTypeId="urn:microsoft.com/office/officeart/2005/8/quickstyle/simple4" qsCatId="simple" csTypeId="urn:microsoft.com/office/officeart/2018/5/colors/Iconchunking_neutralicon_colorful5" csCatId="colorful" phldr="1"/>
      <dgm:spPr/>
    </dgm:pt>
    <dgm:pt modelId="{29BB62C3-8DAE-49E7-A154-FB8CDD20BD56}" type="pres">
      <dgm:prSet presAssocID="{C7720856-93F0-4CC7-B7FD-2466914A11D4}" presName="root" presStyleCnt="0">
        <dgm:presLayoutVars>
          <dgm:dir/>
          <dgm:resizeHandles val="exact"/>
        </dgm:presLayoutVars>
      </dgm:prSet>
      <dgm:spPr/>
    </dgm:pt>
  </dgm:ptLst>
  <dgm:cxnLst>
    <dgm:cxn modelId="{656B1851-13C8-4201-B702-5947529A0870}" type="presOf" srcId="{C7720856-93F0-4CC7-B7FD-2466914A11D4}" destId="{29BB62C3-8DAE-49E7-A154-FB8CDD20BD56}" srcOrd="0" destOrd="0" presId="urn:microsoft.com/office/officeart/2018/5/layout/IconLeafLabelList"/>
  </dgm:cxnLst>
  <dgm:bg>
    <a:blipFill>
      <a:blip xmlns:r="http://schemas.openxmlformats.org/officeDocument/2006/relationships" r:embed="rId1">
        <a:extLst>
          <a:ext uri="{28A0092B-C50C-407E-A947-70E740481C1C}">
            <a14:useLocalDpi xmlns:a14="http://schemas.microsoft.com/office/drawing/2010/main" val="0"/>
          </a:ext>
        </a:extLst>
      </a:blip>
      <a:stretch>
        <a:fillRect/>
      </a:stretch>
    </a:blip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7720856-93F0-4CC7-B7FD-2466914A11D4}" type="doc">
      <dgm:prSet loTypeId="urn:microsoft.com/office/officeart/2018/5/layout/IconLeafLabelList" loCatId="icon" qsTypeId="urn:microsoft.com/office/officeart/2005/8/quickstyle/simple4" qsCatId="simple" csTypeId="urn:microsoft.com/office/officeart/2018/5/colors/Iconchunking_neutralicon_colorful5" csCatId="colorful" phldr="1"/>
      <dgm:spPr/>
    </dgm:pt>
    <dgm:pt modelId="{29BB62C3-8DAE-49E7-A154-FB8CDD20BD56}" type="pres">
      <dgm:prSet presAssocID="{C7720856-93F0-4CC7-B7FD-2466914A11D4}" presName="root" presStyleCnt="0">
        <dgm:presLayoutVars>
          <dgm:dir/>
          <dgm:resizeHandles val="exact"/>
        </dgm:presLayoutVars>
      </dgm:prSet>
      <dgm:spPr/>
    </dgm:pt>
  </dgm:ptLst>
  <dgm:cxnLst>
    <dgm:cxn modelId="{656B1851-13C8-4201-B702-5947529A0870}" type="presOf" srcId="{C7720856-93F0-4CC7-B7FD-2466914A11D4}" destId="{29BB62C3-8DAE-49E7-A154-FB8CDD20BD56}" srcOrd="0" destOrd="0" presId="urn:microsoft.com/office/officeart/2018/5/layout/IconLeafLabelList"/>
  </dgm:cxnLst>
  <dgm:bg>
    <a:blipFill>
      <a:blip xmlns:r="http://schemas.openxmlformats.org/officeDocument/2006/relationships" r:embed="rId1">
        <a:extLst>
          <a:ext uri="{28A0092B-C50C-407E-A947-70E740481C1C}">
            <a14:useLocalDpi xmlns:a14="http://schemas.microsoft.com/office/drawing/2010/main" val="0"/>
          </a:ext>
        </a:extLst>
      </a:blip>
      <a:stretch>
        <a:fillRect/>
      </a:stretch>
    </a:blip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7720856-93F0-4CC7-B7FD-2466914A11D4}" type="doc">
      <dgm:prSet loTypeId="urn:microsoft.com/office/officeart/2018/5/layout/IconLeafLabelList" loCatId="icon" qsTypeId="urn:microsoft.com/office/officeart/2005/8/quickstyle/simple4" qsCatId="simple" csTypeId="urn:microsoft.com/office/officeart/2018/5/colors/Iconchunking_neutralicon_colorful5" csCatId="colorful" phldr="1"/>
      <dgm:spPr/>
    </dgm:pt>
    <dgm:pt modelId="{29BB62C3-8DAE-49E7-A154-FB8CDD20BD56}" type="pres">
      <dgm:prSet presAssocID="{C7720856-93F0-4CC7-B7FD-2466914A11D4}" presName="root" presStyleCnt="0">
        <dgm:presLayoutVars>
          <dgm:dir/>
          <dgm:resizeHandles val="exact"/>
        </dgm:presLayoutVars>
      </dgm:prSet>
      <dgm:spPr/>
    </dgm:pt>
  </dgm:ptLst>
  <dgm:cxnLst>
    <dgm:cxn modelId="{656B1851-13C8-4201-B702-5947529A0870}" type="presOf" srcId="{C7720856-93F0-4CC7-B7FD-2466914A11D4}" destId="{29BB62C3-8DAE-49E7-A154-FB8CDD20BD56}" srcOrd="0" destOrd="0" presId="urn:microsoft.com/office/officeart/2018/5/layout/IconLeafLabelList"/>
  </dgm:cxnLst>
  <dgm:bg>
    <a:blipFill>
      <a:blip xmlns:r="http://schemas.openxmlformats.org/officeDocument/2006/relationships" r:embed="rId1">
        <a:extLst>
          <a:ext uri="{28A0092B-C50C-407E-A947-70E740481C1C}">
            <a14:useLocalDpi xmlns:a14="http://schemas.microsoft.com/office/drawing/2010/main" val="0"/>
          </a:ext>
        </a:extLst>
      </a:blip>
      <a:stretch>
        <a:fillRect/>
      </a:stretch>
    </a:blip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7720856-93F0-4CC7-B7FD-2466914A11D4}" type="doc">
      <dgm:prSet loTypeId="urn:microsoft.com/office/officeart/2018/5/layout/IconLeafLabelList" loCatId="icon" qsTypeId="urn:microsoft.com/office/officeart/2005/8/quickstyle/simple4" qsCatId="simple" csTypeId="urn:microsoft.com/office/officeart/2018/5/colors/Iconchunking_neutralicon_colorful5" csCatId="colorful" phldr="1"/>
      <dgm:spPr/>
    </dgm:pt>
    <dgm:pt modelId="{29BB62C3-8DAE-49E7-A154-FB8CDD20BD56}" type="pres">
      <dgm:prSet presAssocID="{C7720856-93F0-4CC7-B7FD-2466914A11D4}" presName="root" presStyleCnt="0">
        <dgm:presLayoutVars>
          <dgm:dir/>
          <dgm:resizeHandles val="exact"/>
        </dgm:presLayoutVars>
      </dgm:prSet>
      <dgm:spPr/>
    </dgm:pt>
  </dgm:ptLst>
  <dgm:cxnLst>
    <dgm:cxn modelId="{656B1851-13C8-4201-B702-5947529A0870}" type="presOf" srcId="{C7720856-93F0-4CC7-B7FD-2466914A11D4}" destId="{29BB62C3-8DAE-49E7-A154-FB8CDD20BD56}" srcOrd="0" destOrd="0" presId="urn:microsoft.com/office/officeart/2018/5/layout/IconLeafLabelList"/>
  </dgm:cxnLst>
  <dgm:bg>
    <a:blipFill>
      <a:blip xmlns:r="http://schemas.openxmlformats.org/officeDocument/2006/relationships" r:embed="rId1">
        <a:extLst>
          <a:ext uri="{28A0092B-C50C-407E-A947-70E740481C1C}">
            <a14:useLocalDpi xmlns:a14="http://schemas.microsoft.com/office/drawing/2010/main" val="0"/>
          </a:ext>
        </a:extLst>
      </a:blip>
      <a:stretch>
        <a:fillRect/>
      </a:stretch>
    </a:blip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7720856-93F0-4CC7-B7FD-2466914A11D4}" type="doc">
      <dgm:prSet loTypeId="urn:microsoft.com/office/officeart/2018/5/layout/IconLeafLabelList" loCatId="icon" qsTypeId="urn:microsoft.com/office/officeart/2005/8/quickstyle/simple4" qsCatId="simple" csTypeId="urn:microsoft.com/office/officeart/2018/5/colors/Iconchunking_neutralicon_colorful5" csCatId="colorful" phldr="1"/>
      <dgm:spPr/>
    </dgm:pt>
    <dgm:pt modelId="{29BB62C3-8DAE-49E7-A154-FB8CDD20BD56}" type="pres">
      <dgm:prSet presAssocID="{C7720856-93F0-4CC7-B7FD-2466914A11D4}" presName="root" presStyleCnt="0">
        <dgm:presLayoutVars>
          <dgm:dir/>
          <dgm:resizeHandles val="exact"/>
        </dgm:presLayoutVars>
      </dgm:prSet>
      <dgm:spPr/>
    </dgm:pt>
  </dgm:ptLst>
  <dgm:cxnLst>
    <dgm:cxn modelId="{656B1851-13C8-4201-B702-5947529A0870}" type="presOf" srcId="{C7720856-93F0-4CC7-B7FD-2466914A11D4}" destId="{29BB62C3-8DAE-49E7-A154-FB8CDD20BD56}" srcOrd="0" destOrd="0" presId="urn:microsoft.com/office/officeart/2018/5/layout/IconLeafLabelList"/>
  </dgm:cxnLst>
  <dgm:bg>
    <a:blipFill>
      <a:blip xmlns:r="http://schemas.openxmlformats.org/officeDocument/2006/relationships" r:embed="rId1">
        <a:extLst>
          <a:ext uri="{28A0092B-C50C-407E-A947-70E740481C1C}">
            <a14:useLocalDpi xmlns:a14="http://schemas.microsoft.com/office/drawing/2010/main" val="0"/>
          </a:ext>
        </a:extLst>
      </a:blip>
      <a:stretch>
        <a:fillRect/>
      </a:stretch>
    </a:blip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7720856-93F0-4CC7-B7FD-2466914A11D4}" type="doc">
      <dgm:prSet loTypeId="urn:microsoft.com/office/officeart/2018/5/layout/IconLeafLabelList" loCatId="icon" qsTypeId="urn:microsoft.com/office/officeart/2005/8/quickstyle/simple4" qsCatId="simple" csTypeId="urn:microsoft.com/office/officeart/2018/5/colors/Iconchunking_neutralicon_colorful5" csCatId="colorful" phldr="1"/>
      <dgm:spPr/>
    </dgm:pt>
    <dgm:pt modelId="{29BB62C3-8DAE-49E7-A154-FB8CDD20BD56}" type="pres">
      <dgm:prSet presAssocID="{C7720856-93F0-4CC7-B7FD-2466914A11D4}" presName="root" presStyleCnt="0">
        <dgm:presLayoutVars>
          <dgm:dir/>
          <dgm:resizeHandles val="exact"/>
        </dgm:presLayoutVars>
      </dgm:prSet>
      <dgm:spPr/>
    </dgm:pt>
  </dgm:ptLst>
  <dgm:cxnLst>
    <dgm:cxn modelId="{656B1851-13C8-4201-B702-5947529A0870}" type="presOf" srcId="{C7720856-93F0-4CC7-B7FD-2466914A11D4}" destId="{29BB62C3-8DAE-49E7-A154-FB8CDD20BD56}" srcOrd="0" destOrd="0" presId="urn:microsoft.com/office/officeart/2018/5/layout/IconLeafLabelList"/>
  </dgm:cxnLst>
  <dgm:bg>
    <a:blipFill>
      <a:blip xmlns:r="http://schemas.openxmlformats.org/officeDocument/2006/relationships" r:embed="rId1">
        <a:extLst>
          <a:ext uri="{28A0092B-C50C-407E-A947-70E740481C1C}">
            <a14:useLocalDpi xmlns:a14="http://schemas.microsoft.com/office/drawing/2010/main" val="0"/>
          </a:ext>
        </a:extLst>
      </a:blip>
      <a:stretch>
        <a:fillRect/>
      </a:stretch>
    </a:blip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7720856-93F0-4CC7-B7FD-2466914A11D4}" type="doc">
      <dgm:prSet loTypeId="urn:microsoft.com/office/officeart/2018/5/layout/IconLeafLabelList" loCatId="icon" qsTypeId="urn:microsoft.com/office/officeart/2005/8/quickstyle/simple4" qsCatId="simple" csTypeId="urn:microsoft.com/office/officeart/2018/5/colors/Iconchunking_neutralicon_colorful5" csCatId="colorful" phldr="1"/>
      <dgm:spPr/>
    </dgm:pt>
    <dgm:pt modelId="{29BB62C3-8DAE-49E7-A154-FB8CDD20BD56}" type="pres">
      <dgm:prSet presAssocID="{C7720856-93F0-4CC7-B7FD-2466914A11D4}" presName="root" presStyleCnt="0">
        <dgm:presLayoutVars>
          <dgm:dir/>
          <dgm:resizeHandles val="exact"/>
        </dgm:presLayoutVars>
      </dgm:prSet>
      <dgm:spPr/>
    </dgm:pt>
  </dgm:ptLst>
  <dgm:cxnLst>
    <dgm:cxn modelId="{656B1851-13C8-4201-B702-5947529A0870}" type="presOf" srcId="{C7720856-93F0-4CC7-B7FD-2466914A11D4}" destId="{29BB62C3-8DAE-49E7-A154-FB8CDD20BD56}" srcOrd="0" destOrd="0" presId="urn:microsoft.com/office/officeart/2018/5/layout/IconLeafLabelList"/>
  </dgm:cxnLst>
  <dgm:bg>
    <a:blipFill>
      <a:blip xmlns:r="http://schemas.openxmlformats.org/officeDocument/2006/relationships" r:embed="rId1">
        <a:extLst>
          <a:ext uri="{28A0092B-C50C-407E-A947-70E740481C1C}">
            <a14:useLocalDpi xmlns:a14="http://schemas.microsoft.com/office/drawing/2010/main" val="0"/>
          </a:ext>
        </a:extLst>
      </a:blip>
      <a:stretch>
        <a:fillRect/>
      </a:stretch>
    </a:blip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7720856-93F0-4CC7-B7FD-2466914A11D4}" type="doc">
      <dgm:prSet loTypeId="urn:microsoft.com/office/officeart/2018/5/layout/IconLeafLabelList" loCatId="icon" qsTypeId="urn:microsoft.com/office/officeart/2005/8/quickstyle/simple4" qsCatId="simple" csTypeId="urn:microsoft.com/office/officeart/2018/5/colors/Iconchunking_neutralicon_colorful5" csCatId="colorful" phldr="1"/>
      <dgm:spPr/>
    </dgm:pt>
    <dgm:pt modelId="{29BB62C3-8DAE-49E7-A154-FB8CDD20BD56}" type="pres">
      <dgm:prSet presAssocID="{C7720856-93F0-4CC7-B7FD-2466914A11D4}" presName="root" presStyleCnt="0">
        <dgm:presLayoutVars>
          <dgm:dir/>
          <dgm:resizeHandles val="exact"/>
        </dgm:presLayoutVars>
      </dgm:prSet>
      <dgm:spPr/>
    </dgm:pt>
  </dgm:ptLst>
  <dgm:cxnLst>
    <dgm:cxn modelId="{656B1851-13C8-4201-B702-5947529A0870}" type="presOf" srcId="{C7720856-93F0-4CC7-B7FD-2466914A11D4}" destId="{29BB62C3-8DAE-49E7-A154-FB8CDD20BD56}" srcOrd="0" destOrd="0" presId="urn:microsoft.com/office/officeart/2018/5/layout/IconLeafLabelList"/>
  </dgm:cxnLst>
  <dgm:bg>
    <a:blipFill>
      <a:blip xmlns:r="http://schemas.openxmlformats.org/officeDocument/2006/relationships" r:embed="rId1">
        <a:extLst>
          <a:ext uri="{28A0092B-C50C-407E-A947-70E740481C1C}">
            <a14:useLocalDpi xmlns:a14="http://schemas.microsoft.com/office/drawing/2010/main" val="0"/>
          </a:ext>
        </a:extLst>
      </a:blip>
      <a:stretch>
        <a:fillRect/>
      </a:stretch>
    </a:blip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C7720856-93F0-4CC7-B7FD-2466914A11D4}" type="doc">
      <dgm:prSet loTypeId="urn:microsoft.com/office/officeart/2018/5/layout/IconLeafLabelList" loCatId="icon" qsTypeId="urn:microsoft.com/office/officeart/2005/8/quickstyle/simple4" qsCatId="simple" csTypeId="urn:microsoft.com/office/officeart/2018/5/colors/Iconchunking_neutralicon_colorful5" csCatId="colorful" phldr="1"/>
      <dgm:spPr/>
    </dgm:pt>
    <dgm:pt modelId="{29BB62C3-8DAE-49E7-A154-FB8CDD20BD56}" type="pres">
      <dgm:prSet presAssocID="{C7720856-93F0-4CC7-B7FD-2466914A11D4}" presName="root" presStyleCnt="0">
        <dgm:presLayoutVars>
          <dgm:dir/>
          <dgm:resizeHandles val="exact"/>
        </dgm:presLayoutVars>
      </dgm:prSet>
      <dgm:spPr/>
    </dgm:pt>
  </dgm:ptLst>
  <dgm:cxnLst>
    <dgm:cxn modelId="{656B1851-13C8-4201-B702-5947529A0870}" type="presOf" srcId="{C7720856-93F0-4CC7-B7FD-2466914A11D4}" destId="{29BB62C3-8DAE-49E7-A154-FB8CDD20BD56}" srcOrd="0" destOrd="0" presId="urn:microsoft.com/office/officeart/2018/5/layout/IconLeafLabelList"/>
  </dgm:cxnLst>
  <dgm:bg>
    <a:blipFill>
      <a:blip xmlns:r="http://schemas.openxmlformats.org/officeDocument/2006/relationships" r:embed="rId1">
        <a:extLst>
          <a:ext uri="{28A0092B-C50C-407E-A947-70E740481C1C}">
            <a14:useLocalDpi xmlns:a14="http://schemas.microsoft.com/office/drawing/2010/main" val="0"/>
          </a:ext>
        </a:extLst>
      </a:blip>
      <a:stretch>
        <a:fillRect/>
      </a:stretch>
    </a:blipFill>
  </dgm:bg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C7720856-93F0-4CC7-B7FD-2466914A11D4}" type="doc">
      <dgm:prSet loTypeId="urn:microsoft.com/office/officeart/2018/5/layout/IconLeafLabelList" loCatId="icon" qsTypeId="urn:microsoft.com/office/officeart/2005/8/quickstyle/simple4" qsCatId="simple" csTypeId="urn:microsoft.com/office/officeart/2018/5/colors/Iconchunking_neutralicon_colorful5" csCatId="colorful" phldr="1"/>
      <dgm:spPr/>
    </dgm:pt>
    <dgm:pt modelId="{29BB62C3-8DAE-49E7-A154-FB8CDD20BD56}" type="pres">
      <dgm:prSet presAssocID="{C7720856-93F0-4CC7-B7FD-2466914A11D4}" presName="root" presStyleCnt="0">
        <dgm:presLayoutVars>
          <dgm:dir/>
          <dgm:resizeHandles val="exact"/>
        </dgm:presLayoutVars>
      </dgm:prSet>
      <dgm:spPr/>
    </dgm:pt>
  </dgm:ptLst>
  <dgm:cxnLst>
    <dgm:cxn modelId="{656B1851-13C8-4201-B702-5947529A0870}" type="presOf" srcId="{C7720856-93F0-4CC7-B7FD-2466914A11D4}" destId="{29BB62C3-8DAE-49E7-A154-FB8CDD20BD56}" srcOrd="0" destOrd="0" presId="urn:microsoft.com/office/officeart/2018/5/layout/IconLeafLabelList"/>
  </dgm:cxnLst>
  <dgm:bg>
    <a:blipFill>
      <a:blip xmlns:r="http://schemas.openxmlformats.org/officeDocument/2006/relationships" r:embed="rId1">
        <a:extLst>
          <a:ext uri="{28A0092B-C50C-407E-A947-70E740481C1C}">
            <a14:useLocalDpi xmlns:a14="http://schemas.microsoft.com/office/drawing/2010/main" val="0"/>
          </a:ext>
        </a:extLst>
      </a:blip>
      <a:stretch>
        <a:fillRect/>
      </a:stretch>
    </a:blipFill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C7720856-93F0-4CC7-B7FD-2466914A11D4}" type="doc">
      <dgm:prSet loTypeId="urn:microsoft.com/office/officeart/2018/5/layout/IconLeafLabelList" loCatId="icon" qsTypeId="urn:microsoft.com/office/officeart/2005/8/quickstyle/simple4" qsCatId="simple" csTypeId="urn:microsoft.com/office/officeart/2018/5/colors/Iconchunking_neutralicon_colorful5" csCatId="colorful" phldr="1"/>
      <dgm:spPr/>
    </dgm:pt>
    <dgm:pt modelId="{29BB62C3-8DAE-49E7-A154-FB8CDD20BD56}" type="pres">
      <dgm:prSet presAssocID="{C7720856-93F0-4CC7-B7FD-2466914A11D4}" presName="root" presStyleCnt="0">
        <dgm:presLayoutVars>
          <dgm:dir/>
          <dgm:resizeHandles val="exact"/>
        </dgm:presLayoutVars>
      </dgm:prSet>
      <dgm:spPr/>
    </dgm:pt>
  </dgm:ptLst>
  <dgm:cxnLst>
    <dgm:cxn modelId="{656B1851-13C8-4201-B702-5947529A0870}" type="presOf" srcId="{C7720856-93F0-4CC7-B7FD-2466914A11D4}" destId="{29BB62C3-8DAE-49E7-A154-FB8CDD20BD56}" srcOrd="0" destOrd="0" presId="urn:microsoft.com/office/officeart/2018/5/layout/IconLeafLabelList"/>
  </dgm:cxnLst>
  <dgm:bg>
    <a:blipFill>
      <a:blip xmlns:r="http://schemas.openxmlformats.org/officeDocument/2006/relationships" r:embed="rId1">
        <a:extLst>
          <a:ext uri="{28A0092B-C50C-407E-A947-70E740481C1C}">
            <a14:useLocalDpi xmlns:a14="http://schemas.microsoft.com/office/drawing/2010/main" val="0"/>
          </a:ext>
        </a:extLst>
      </a:blip>
      <a:stretch>
        <a:fillRect/>
      </a:stretch>
    </a:blip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4147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9915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0CD15-3153-6D93-BD61-BC31220E9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AB1F95-BF5E-5783-B95C-828DF5354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AC6BAA-6F43-BD18-29F3-50C7C15C0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B957C-93D5-78B8-5162-A084E6DC69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5562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2.xml"/><Relationship Id="rId3" Type="http://schemas.openxmlformats.org/officeDocument/2006/relationships/image" Target="../media/image4.png"/><Relationship Id="rId7" Type="http://schemas.openxmlformats.org/officeDocument/2006/relationships/diagramQuickStyle" Target="../diagrams/quickStyle1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2.xml"/><Relationship Id="rId5" Type="http://schemas.openxmlformats.org/officeDocument/2006/relationships/diagramData" Target="../diagrams/data12.xml"/><Relationship Id="rId4" Type="http://schemas.openxmlformats.org/officeDocument/2006/relationships/image" Target="../media/image5.png"/><Relationship Id="rId9" Type="http://schemas.microsoft.com/office/2007/relationships/diagramDrawing" Target="../diagrams/drawing12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3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3.xml"/><Relationship Id="rId5" Type="http://schemas.openxmlformats.org/officeDocument/2006/relationships/diagramLayout" Target="../diagrams/layout13.xml"/><Relationship Id="rId4" Type="http://schemas.openxmlformats.org/officeDocument/2006/relationships/diagramData" Target="../diagrams/data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07/s10584-024-03747-w" TargetMode="External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12" Type="http://schemas.openxmlformats.org/officeDocument/2006/relationships/hyperlink" Target="https://doi.org/10.5281/zenodo.7802446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4.xml"/><Relationship Id="rId11" Type="http://schemas.openxmlformats.org/officeDocument/2006/relationships/hyperlink" Target="https://doi.org/10.34190/ecgbl.17.1.1890" TargetMode="External"/><Relationship Id="rId5" Type="http://schemas.openxmlformats.org/officeDocument/2006/relationships/diagramQuickStyle" Target="../diagrams/quickStyle14.xml"/><Relationship Id="rId10" Type="http://schemas.openxmlformats.org/officeDocument/2006/relationships/hyperlink" Target="https://doi.org/10.5281/zenodo.17955516" TargetMode="External"/><Relationship Id="rId4" Type="http://schemas.openxmlformats.org/officeDocument/2006/relationships/diagramLayout" Target="../diagrams/layout14.xml"/><Relationship Id="rId9" Type="http://schemas.openxmlformats.org/officeDocument/2006/relationships/hyperlink" Target="https://doi.org/10.3758/s13428-023-02218-x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5497" y="1676400"/>
            <a:ext cx="8083826" cy="705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200"/>
              </a:spcAft>
            </a:pPr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Affect and Action: Exploring Gamer Responses to Climate Questions in Mobile Games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3538330"/>
            <a:ext cx="6800850" cy="964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Presenter: Victor Chinua Ene</a:t>
            </a:r>
          </a:p>
          <a:p>
            <a:r>
              <a:rPr lang="en-GB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 ID: 2318217</a:t>
            </a:r>
          </a:p>
          <a:p>
            <a:r>
              <a:rPr lang="en-GB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Course: M.Sc. Data Analytics and Technologies</a:t>
            </a:r>
          </a:p>
          <a:p>
            <a:r>
              <a:rPr lang="en-GB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Date: January 2026</a:t>
            </a:r>
          </a:p>
          <a:p>
            <a:endParaRPr lang="en-GB" sz="1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Supervised by: Dr. Anchal Garg</a:t>
            </a:r>
          </a:p>
        </p:txBody>
      </p:sp>
      <p:graphicFrame>
        <p:nvGraphicFramePr>
          <p:cNvPr id="8" name="Content Placeholder 8" descr="Smart Art icons">
            <a:extLst>
              <a:ext uri="{FF2B5EF4-FFF2-40B4-BE49-F238E27FC236}">
                <a16:creationId xmlns:a16="http://schemas.microsoft.com/office/drawing/2014/main" id="{97C9BBE7-33C0-EEEF-7B8F-FF240CB2CB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6185340"/>
              </p:ext>
            </p:extLst>
          </p:nvPr>
        </p:nvGraphicFramePr>
        <p:xfrm>
          <a:off x="6875489" y="131179"/>
          <a:ext cx="2129364" cy="644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Context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030306"/>
            <a:ext cx="294379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Climate Communication Challenge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4800" y="1815471"/>
            <a:ext cx="4191000" cy="2247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temperatures reached highest levels in 100,000+ years (2023)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engagement methods face declining trust and participation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87348" y="1293927"/>
            <a:ext cx="30118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Games as Solutions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648200" y="1773490"/>
            <a:ext cx="4191000" cy="14478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billion+ gamers worldwide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indicating massive reach potential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and immersive engagement format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for complex systems and narratives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organic expression within gameplay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4800" y="4076700"/>
            <a:ext cx="8534400" cy="7620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3850" y="4076700"/>
            <a:ext cx="0" cy="76200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95300" y="4229100"/>
            <a:ext cx="83553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GREAT Project (2023-2026):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Horizon Europe-funded initiative exploring games as environments for civic discussion on sustainability, integrating policy-relevant questions into commercial gameplay.</a:t>
            </a:r>
            <a:endParaRPr lang="en-US" sz="1200" dirty="0"/>
          </a:p>
        </p:txBody>
      </p:sp>
      <p:graphicFrame>
        <p:nvGraphicFramePr>
          <p:cNvPr id="11" name="Content Placeholder 8" descr="Smart Art icons">
            <a:extLst>
              <a:ext uri="{FF2B5EF4-FFF2-40B4-BE49-F238E27FC236}">
                <a16:creationId xmlns:a16="http://schemas.microsoft.com/office/drawing/2014/main" id="{25CB2563-9D77-04D8-8D46-E3EED5B7DB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6602870"/>
              </p:ext>
            </p:extLst>
          </p:nvPr>
        </p:nvGraphicFramePr>
        <p:xfrm>
          <a:off x="6848985" y="96723"/>
          <a:ext cx="2129364" cy="644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>
            <a:extLst>
              <a:ext uri="{FF2B5EF4-FFF2-40B4-BE49-F238E27FC236}">
                <a16:creationId xmlns:a16="http://schemas.microsoft.com/office/drawing/2014/main" id="{F94DD00C-02BB-9763-AA38-786ABB908109}"/>
              </a:ext>
            </a:extLst>
          </p:cNvPr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0A406FD1-0A17-F7EF-AE65-E20A0EA394A7}"/>
              </a:ext>
            </a:extLst>
          </p:cNvPr>
          <p:cNvSpPr/>
          <p:nvPr/>
        </p:nvSpPr>
        <p:spPr>
          <a:xfrm>
            <a:off x="304800" y="228600"/>
            <a:ext cx="5372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Research &amp; Major Addition</a:t>
            </a:r>
            <a:endParaRPr lang="en-US" sz="270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B738B90C-9E7D-CF42-DA04-1E584462D963}"/>
              </a:ext>
            </a:extLst>
          </p:cNvPr>
          <p:cNvSpPr/>
          <p:nvPr/>
        </p:nvSpPr>
        <p:spPr>
          <a:xfrm>
            <a:off x="356997" y="858079"/>
            <a:ext cx="8382000" cy="132769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67DD671C-435A-FB6D-E55F-9E76E263E691}"/>
              </a:ext>
            </a:extLst>
          </p:cNvPr>
          <p:cNvSpPr/>
          <p:nvPr/>
        </p:nvSpPr>
        <p:spPr>
          <a:xfrm>
            <a:off x="533400" y="1053554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Research Established</a:t>
            </a:r>
            <a:endParaRPr lang="en-US" sz="140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B9EDDC51-A2E8-5FA0-5C67-77C7CEF3CBD3}"/>
              </a:ext>
            </a:extLst>
          </p:cNvPr>
          <p:cNvSpPr/>
          <p:nvPr/>
        </p:nvSpPr>
        <p:spPr>
          <a:xfrm>
            <a:off x="533400" y="1396454"/>
            <a:ext cx="8238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Hollins et al. (2023, 2024)</a:t>
            </a: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validated in-game climate surveys: 58% engagement, 84% completion in SMITE</a:t>
            </a:r>
            <a:endParaRPr lang="en-US" sz="140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6EEF9F70-6AA4-6F4F-67C2-715FC4FB2947}"/>
              </a:ext>
            </a:extLst>
          </p:cNvPr>
          <p:cNvSpPr/>
          <p:nvPr/>
        </p:nvSpPr>
        <p:spPr>
          <a:xfrm>
            <a:off x="533400" y="1818677"/>
            <a:ext cx="8238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BUT: No analysis of open-ended text content</a:t>
            </a:r>
            <a:endParaRPr lang="en-US" sz="12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552A1DED-A7F9-B6AC-7064-E29597202B08}"/>
              </a:ext>
            </a:extLst>
          </p:cNvPr>
          <p:cNvSpPr/>
          <p:nvPr/>
        </p:nvSpPr>
        <p:spPr>
          <a:xfrm>
            <a:off x="533400" y="2496592"/>
            <a:ext cx="8238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  <a:spcAft>
                <a:spcPts val="450"/>
              </a:spcAft>
            </a:pPr>
            <a:r>
              <a:rPr lang="en-US" sz="1600" b="1" dirty="0"/>
              <a:t>Carman et al. (2024)</a:t>
            </a:r>
            <a:r>
              <a:rPr lang="en-US" sz="1600" dirty="0"/>
              <a:t> - Yale survey (n=2,000+ US gamers) showed gamers engage with climate issues</a:t>
            </a: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7102DD2E-E6E7-BF13-991F-7A550CA1F629}"/>
              </a:ext>
            </a:extLst>
          </p:cNvPr>
          <p:cNvSpPr/>
          <p:nvPr/>
        </p:nvSpPr>
        <p:spPr>
          <a:xfrm>
            <a:off x="533400" y="3215729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Study's Major Addition</a:t>
            </a:r>
            <a:endParaRPr lang="en-US" sz="14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6BE91ADD-AB4C-7D27-577B-5293DE35C293}"/>
              </a:ext>
            </a:extLst>
          </p:cNvPr>
          <p:cNvSpPr/>
          <p:nvPr/>
        </p:nvSpPr>
        <p:spPr>
          <a:xfrm>
            <a:off x="533400" y="3834854"/>
            <a:ext cx="40707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 (VADER, TextBlob)</a:t>
            </a:r>
            <a:endParaRPr lang="en-US" sz="11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0864ADF5-8568-7062-A6AA-286408329B64}"/>
              </a:ext>
            </a:extLst>
          </p:cNvPr>
          <p:cNvSpPr/>
          <p:nvPr/>
        </p:nvSpPr>
        <p:spPr>
          <a:xfrm>
            <a:off x="533400" y="4021485"/>
            <a:ext cx="40707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Thematic discourse analysis</a:t>
            </a:r>
            <a:endParaRPr lang="en-US" sz="110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067BB707-0B8A-D738-76DA-4556AE623550}"/>
              </a:ext>
            </a:extLst>
          </p:cNvPr>
          <p:cNvSpPr/>
          <p:nvPr/>
        </p:nvSpPr>
        <p:spPr>
          <a:xfrm>
            <a:off x="533400" y="2766846"/>
            <a:ext cx="8238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BUT: US-only, self-reported </a:t>
            </a:r>
            <a:r>
              <a:rPr lang="en-US" sz="1200" b="1" dirty="0" err="1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</a:t>
            </a: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 actual text response analysis</a:t>
            </a:r>
            <a:endParaRPr lang="en-US" sz="120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0AB44420-C454-AAE7-6B43-1ABA0258ECB7}"/>
              </a:ext>
            </a:extLst>
          </p:cNvPr>
          <p:cNvSpPr/>
          <p:nvPr/>
        </p:nvSpPr>
        <p:spPr>
          <a:xfrm>
            <a:off x="517329" y="4080865"/>
            <a:ext cx="8238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BUT: US-only, self-report Doesn't address gaming contexts, focused on traditional surveys </a:t>
            </a:r>
            <a:endParaRPr lang="en-US" sz="120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DB4D9EEF-392F-B63A-714C-FBB4E79BE451}"/>
              </a:ext>
            </a:extLst>
          </p:cNvPr>
          <p:cNvSpPr/>
          <p:nvPr/>
        </p:nvSpPr>
        <p:spPr>
          <a:xfrm>
            <a:off x="507568" y="3586036"/>
            <a:ext cx="8238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  <a:spcAft>
                <a:spcPts val="450"/>
              </a:spcAft>
            </a:pPr>
            <a:r>
              <a:rPr lang="en-US" sz="1600" b="1" dirty="0"/>
              <a:t>Hansen &amp; </a:t>
            </a:r>
            <a:r>
              <a:rPr lang="en-US" sz="1600" b="1" dirty="0" err="1"/>
              <a:t>Świderska</a:t>
            </a:r>
            <a:r>
              <a:rPr lang="en-US" sz="1600" b="1" dirty="0"/>
              <a:t> (2024)</a:t>
            </a:r>
            <a:r>
              <a:rPr lang="en-US" sz="1600" dirty="0"/>
              <a:t> - Identified value of open-ended survey responses for capturing nuanced views</a:t>
            </a:r>
          </a:p>
        </p:txBody>
      </p:sp>
      <p:graphicFrame>
        <p:nvGraphicFramePr>
          <p:cNvPr id="33" name="Content Placeholder 8" descr="Smart Art icons">
            <a:extLst>
              <a:ext uri="{FF2B5EF4-FFF2-40B4-BE49-F238E27FC236}">
                <a16:creationId xmlns:a16="http://schemas.microsoft.com/office/drawing/2014/main" id="{AB8E4C00-002A-7DE8-68CA-5BAD76E965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7958313"/>
              </p:ext>
            </p:extLst>
          </p:nvPr>
        </p:nvGraphicFramePr>
        <p:xfrm>
          <a:off x="6875489" y="131179"/>
          <a:ext cx="2129364" cy="644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04334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Research Gap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28422" y="1407168"/>
            <a:ext cx="8534400" cy="1508671"/>
          </a:xfrm>
          <a:prstGeom prst="roundRect">
            <a:avLst>
              <a:gd name="adj" fmla="val 5051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33375" y="1383953"/>
            <a:ext cx="0" cy="1508671"/>
          </a:xfrm>
          <a:prstGeom prst="line">
            <a:avLst/>
          </a:prstGeom>
          <a:noFill/>
          <a:ln w="571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52450" y="1574453"/>
            <a:ext cx="413880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Missing Analysis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52450" y="1879253"/>
            <a:ext cx="825817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0"/>
              </a:lnSpc>
            </a:pPr>
            <a:r>
              <a:rPr lang="en-US" sz="13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Despite </a:t>
            </a:r>
            <a:r>
              <a:rPr lang="en-US" sz="135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one million players</a:t>
            </a:r>
            <a:r>
              <a:rPr lang="en-US" sz="13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engaging with Play2Act2 from 228 countries, </a:t>
            </a:r>
            <a:r>
              <a:rPr lang="en-US" sz="135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open-ended text responses remain unanalysed</a:t>
            </a:r>
            <a:r>
              <a:rPr lang="en-US" sz="13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leaving authentic citizen voices and emotional expressions unexamined. </a:t>
            </a:r>
            <a:r>
              <a:rPr lang="en-US" sz="14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players actually say and how demographics shape responses remained unknown</a:t>
            </a:r>
            <a:endParaRPr lang="en-US" sz="1400" dirty="0"/>
          </a:p>
          <a:p>
            <a:pPr marL="0" indent="0" algn="l">
              <a:lnSpc>
                <a:spcPts val="2160"/>
              </a:lnSpc>
              <a:buNone/>
            </a:pP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4800" y="3045023"/>
            <a:ext cx="43622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Missing from Existing Research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04800" y="3578423"/>
            <a:ext cx="2743200" cy="1171575"/>
          </a:xfrm>
          <a:prstGeom prst="roundRect">
            <a:avLst>
              <a:gd name="adj" fmla="val 4878"/>
            </a:avLst>
          </a:prstGeom>
          <a:solidFill>
            <a:srgbClr val="F3F4F6"/>
          </a:solidFill>
          <a:ln w="19050">
            <a:solidFill>
              <a:srgbClr val="D1D5D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5300" y="3730823"/>
            <a:ext cx="24094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Scope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5300" y="3997523"/>
            <a:ext cx="240944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fragmented, focused on design principles and small-scale evaluations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0" y="3578423"/>
            <a:ext cx="2743200" cy="1171575"/>
          </a:xfrm>
          <a:prstGeom prst="roundRect">
            <a:avLst>
              <a:gd name="adj" fmla="val 4878"/>
            </a:avLst>
          </a:prstGeom>
          <a:solidFill>
            <a:srgbClr val="F3F4F6"/>
          </a:solidFill>
          <a:ln w="19050">
            <a:solidFill>
              <a:srgbClr val="D1D5D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90900" y="3730823"/>
            <a:ext cx="24094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Limits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90900" y="3997523"/>
            <a:ext cx="240944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Closed-ended formats can't capture spontaneous framing or authentic emotional expression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96000" y="3578423"/>
            <a:ext cx="2743200" cy="1171575"/>
          </a:xfrm>
          <a:prstGeom prst="roundRect">
            <a:avLst>
              <a:gd name="adj" fmla="val 4878"/>
            </a:avLst>
          </a:prstGeom>
          <a:solidFill>
            <a:srgbClr val="F3F4F6"/>
          </a:solidFill>
          <a:ln w="19050">
            <a:solidFill>
              <a:srgbClr val="D1D5D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86500" y="3730823"/>
            <a:ext cx="24094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Gap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86500" y="3997523"/>
            <a:ext cx="240944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Governments lack systematic ways to access citizen priorities and emotional responses</a:t>
            </a:r>
            <a:endParaRPr lang="en-US" sz="1050" dirty="0"/>
          </a:p>
        </p:txBody>
      </p:sp>
      <p:graphicFrame>
        <p:nvGraphicFramePr>
          <p:cNvPr id="18" name="Content Placeholder 8" descr="Smart Art icons">
            <a:extLst>
              <a:ext uri="{FF2B5EF4-FFF2-40B4-BE49-F238E27FC236}">
                <a16:creationId xmlns:a16="http://schemas.microsoft.com/office/drawing/2014/main" id="{BAAA1315-6896-55B6-A4C9-E295268BA9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4094770"/>
              </p:ext>
            </p:extLst>
          </p:nvPr>
        </p:nvGraphicFramePr>
        <p:xfrm>
          <a:off x="6848985" y="96723"/>
          <a:ext cx="2129364" cy="644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>
            <a:extLst>
              <a:ext uri="{FF2B5EF4-FFF2-40B4-BE49-F238E27FC236}">
                <a16:creationId xmlns:a16="http://schemas.microsoft.com/office/drawing/2014/main" id="{8DDC23D4-955F-BF6E-3389-1E31CD394B7A}"/>
              </a:ext>
            </a:extLst>
          </p:cNvPr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1">
            <a:extLst>
              <a:ext uri="{FF2B5EF4-FFF2-40B4-BE49-F238E27FC236}">
                <a16:creationId xmlns:a16="http://schemas.microsoft.com/office/drawing/2014/main" id="{66C312BE-D27A-08E6-B542-3BAA3C4D383B}"/>
              </a:ext>
            </a:extLst>
          </p:cNvPr>
          <p:cNvSpPr/>
          <p:nvPr/>
        </p:nvSpPr>
        <p:spPr>
          <a:xfrm>
            <a:off x="304800" y="2286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2700" dirty="0"/>
          </a:p>
        </p:txBody>
      </p:sp>
      <p:sp>
        <p:nvSpPr>
          <p:cNvPr id="63" name="Text 2">
            <a:extLst>
              <a:ext uri="{FF2B5EF4-FFF2-40B4-BE49-F238E27FC236}">
                <a16:creationId xmlns:a16="http://schemas.microsoft.com/office/drawing/2014/main" id="{A89EC2D5-D4F9-62CA-AC6E-575D09A7B553}"/>
              </a:ext>
            </a:extLst>
          </p:cNvPr>
          <p:cNvSpPr/>
          <p:nvPr/>
        </p:nvSpPr>
        <p:spPr>
          <a:xfrm>
            <a:off x="285750" y="1247776"/>
            <a:ext cx="4191000" cy="1581150"/>
          </a:xfrm>
          <a:prstGeom prst="roundRect">
            <a:avLst>
              <a:gd name="adj" fmla="val 4819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B57F3976-7220-1B98-391A-650362B6DCF6}"/>
              </a:ext>
            </a:extLst>
          </p:cNvPr>
          <p:cNvSpPr/>
          <p:nvPr/>
        </p:nvSpPr>
        <p:spPr>
          <a:xfrm>
            <a:off x="298174" y="1247775"/>
            <a:ext cx="419100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 sz="1600"/>
          </a:p>
        </p:txBody>
      </p:sp>
      <p:sp>
        <p:nvSpPr>
          <p:cNvPr id="65" name="Text 4">
            <a:extLst>
              <a:ext uri="{FF2B5EF4-FFF2-40B4-BE49-F238E27FC236}">
                <a16:creationId xmlns:a16="http://schemas.microsoft.com/office/drawing/2014/main" id="{EF16B88A-A7B2-D305-9132-D7F870E9FCA6}"/>
              </a:ext>
            </a:extLst>
          </p:cNvPr>
          <p:cNvSpPr/>
          <p:nvPr/>
        </p:nvSpPr>
        <p:spPr>
          <a:xfrm>
            <a:off x="495300" y="1419225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endParaRPr lang="en-US" sz="1400" dirty="0"/>
          </a:p>
        </p:txBody>
      </p:sp>
      <p:sp>
        <p:nvSpPr>
          <p:cNvPr id="66" name="Text 5">
            <a:extLst>
              <a:ext uri="{FF2B5EF4-FFF2-40B4-BE49-F238E27FC236}">
                <a16:creationId xmlns:a16="http://schemas.microsoft.com/office/drawing/2014/main" id="{E0B37DE6-4EE5-9629-683B-75ABCE4496D1}"/>
              </a:ext>
            </a:extLst>
          </p:cNvPr>
          <p:cNvSpPr/>
          <p:nvPr/>
        </p:nvSpPr>
        <p:spPr>
          <a:xfrm>
            <a:off x="495300" y="1762125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7" name="Text 6">
            <a:extLst>
              <a:ext uri="{FF2B5EF4-FFF2-40B4-BE49-F238E27FC236}">
                <a16:creationId xmlns:a16="http://schemas.microsoft.com/office/drawing/2014/main" id="{6994126A-7219-F528-7897-6E8DAF4058E7}"/>
              </a:ext>
            </a:extLst>
          </p:cNvPr>
          <p:cNvSpPr/>
          <p:nvPr/>
        </p:nvSpPr>
        <p:spPr>
          <a:xfrm>
            <a:off x="495300" y="2085975"/>
            <a:ext cx="3810000" cy="5715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>
              <a:lnSpc>
                <a:spcPts val="2100"/>
              </a:lnSpc>
              <a:buSzPct val="100000"/>
            </a:pPr>
            <a:endParaRPr lang="en-US" sz="1200" dirty="0"/>
          </a:p>
        </p:txBody>
      </p:sp>
      <p:sp>
        <p:nvSpPr>
          <p:cNvPr id="68" name="Text 7">
            <a:extLst>
              <a:ext uri="{FF2B5EF4-FFF2-40B4-BE49-F238E27FC236}">
                <a16:creationId xmlns:a16="http://schemas.microsoft.com/office/drawing/2014/main" id="{B9414EC8-5CB6-E370-4144-895AE2257EBD}"/>
              </a:ext>
            </a:extLst>
          </p:cNvPr>
          <p:cNvSpPr/>
          <p:nvPr/>
        </p:nvSpPr>
        <p:spPr>
          <a:xfrm>
            <a:off x="4648200" y="1228725"/>
            <a:ext cx="4191000" cy="1581150"/>
          </a:xfrm>
          <a:prstGeom prst="roundRect">
            <a:avLst>
              <a:gd name="adj" fmla="val 4819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9" name="Shape 8">
            <a:extLst>
              <a:ext uri="{FF2B5EF4-FFF2-40B4-BE49-F238E27FC236}">
                <a16:creationId xmlns:a16="http://schemas.microsoft.com/office/drawing/2014/main" id="{74774792-6FE7-7C96-4AE7-50588DEFE1FE}"/>
              </a:ext>
            </a:extLst>
          </p:cNvPr>
          <p:cNvSpPr/>
          <p:nvPr/>
        </p:nvSpPr>
        <p:spPr>
          <a:xfrm>
            <a:off x="4648200" y="1247775"/>
            <a:ext cx="419100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 sz="1600"/>
          </a:p>
        </p:txBody>
      </p:sp>
      <p:sp>
        <p:nvSpPr>
          <p:cNvPr id="70" name="Text 9">
            <a:extLst>
              <a:ext uri="{FF2B5EF4-FFF2-40B4-BE49-F238E27FC236}">
                <a16:creationId xmlns:a16="http://schemas.microsoft.com/office/drawing/2014/main" id="{BBF6A3D7-CB32-1D29-65F7-A77C6CA0029F}"/>
              </a:ext>
            </a:extLst>
          </p:cNvPr>
          <p:cNvSpPr/>
          <p:nvPr/>
        </p:nvSpPr>
        <p:spPr>
          <a:xfrm>
            <a:off x="4838700" y="1419225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To apply sentiment analysis tools to classify English-language responses, examining whether sentiments differ significantly across demographic groups </a:t>
            </a:r>
            <a:endParaRPr lang="en-US" sz="1400" dirty="0"/>
          </a:p>
        </p:txBody>
      </p:sp>
      <p:sp>
        <p:nvSpPr>
          <p:cNvPr id="73" name="Text 12">
            <a:extLst>
              <a:ext uri="{FF2B5EF4-FFF2-40B4-BE49-F238E27FC236}">
                <a16:creationId xmlns:a16="http://schemas.microsoft.com/office/drawing/2014/main" id="{09765CFA-EB70-A242-A2FF-94EB6444926B}"/>
              </a:ext>
            </a:extLst>
          </p:cNvPr>
          <p:cNvSpPr/>
          <p:nvPr/>
        </p:nvSpPr>
        <p:spPr>
          <a:xfrm>
            <a:off x="304800" y="2981325"/>
            <a:ext cx="4191000" cy="1581150"/>
          </a:xfrm>
          <a:prstGeom prst="roundRect">
            <a:avLst>
              <a:gd name="adj" fmla="val 4819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Shape 13">
            <a:extLst>
              <a:ext uri="{FF2B5EF4-FFF2-40B4-BE49-F238E27FC236}">
                <a16:creationId xmlns:a16="http://schemas.microsoft.com/office/drawing/2014/main" id="{9114EBAC-DD14-7ADB-815A-736DB2FC7BBA}"/>
              </a:ext>
            </a:extLst>
          </p:cNvPr>
          <p:cNvSpPr/>
          <p:nvPr/>
        </p:nvSpPr>
        <p:spPr>
          <a:xfrm>
            <a:off x="304800" y="3000375"/>
            <a:ext cx="419100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 sz="1600"/>
          </a:p>
        </p:txBody>
      </p:sp>
      <p:sp>
        <p:nvSpPr>
          <p:cNvPr id="75" name="Text 14">
            <a:extLst>
              <a:ext uri="{FF2B5EF4-FFF2-40B4-BE49-F238E27FC236}">
                <a16:creationId xmlns:a16="http://schemas.microsoft.com/office/drawing/2014/main" id="{AB579AA6-4B30-F72E-3444-6C2603B937CE}"/>
              </a:ext>
            </a:extLst>
          </p:cNvPr>
          <p:cNvSpPr/>
          <p:nvPr/>
        </p:nvSpPr>
        <p:spPr>
          <a:xfrm>
            <a:off x="542830" y="3124201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To examine emotional tones expressed in responses by coding specific affective expressions.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</p:txBody>
      </p:sp>
      <p:sp>
        <p:nvSpPr>
          <p:cNvPr id="78" name="Text 17">
            <a:extLst>
              <a:ext uri="{FF2B5EF4-FFF2-40B4-BE49-F238E27FC236}">
                <a16:creationId xmlns:a16="http://schemas.microsoft.com/office/drawing/2014/main" id="{FEE931D5-9A7B-4935-891F-01AA923C1CCB}"/>
              </a:ext>
            </a:extLst>
          </p:cNvPr>
          <p:cNvSpPr/>
          <p:nvPr/>
        </p:nvSpPr>
        <p:spPr>
          <a:xfrm>
            <a:off x="4648200" y="2981324"/>
            <a:ext cx="4191000" cy="1581150"/>
          </a:xfrm>
          <a:prstGeom prst="roundRect">
            <a:avLst>
              <a:gd name="adj" fmla="val 4819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Shape 18">
            <a:extLst>
              <a:ext uri="{FF2B5EF4-FFF2-40B4-BE49-F238E27FC236}">
                <a16:creationId xmlns:a16="http://schemas.microsoft.com/office/drawing/2014/main" id="{BF48F66B-CB55-33EF-2DAF-5F7D826E5EE9}"/>
              </a:ext>
            </a:extLst>
          </p:cNvPr>
          <p:cNvSpPr/>
          <p:nvPr/>
        </p:nvSpPr>
        <p:spPr>
          <a:xfrm>
            <a:off x="4648200" y="3000375"/>
            <a:ext cx="419100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 sz="1600"/>
          </a:p>
        </p:txBody>
      </p:sp>
      <p:sp>
        <p:nvSpPr>
          <p:cNvPr id="80" name="Text 19">
            <a:extLst>
              <a:ext uri="{FF2B5EF4-FFF2-40B4-BE49-F238E27FC236}">
                <a16:creationId xmlns:a16="http://schemas.microsoft.com/office/drawing/2014/main" id="{7B801741-6E92-3C22-317C-7268BB1F9985}"/>
              </a:ext>
            </a:extLst>
          </p:cNvPr>
          <p:cNvSpPr/>
          <p:nvPr/>
        </p:nvSpPr>
        <p:spPr>
          <a:xfrm>
            <a:off x="4838700" y="3171825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To identify salient thematic content in English-language responses.</a:t>
            </a:r>
            <a:endParaRPr lang="en-US" sz="1400" dirty="0"/>
          </a:p>
        </p:txBody>
      </p:sp>
      <p:sp>
        <p:nvSpPr>
          <p:cNvPr id="83" name="Text 14">
            <a:extLst>
              <a:ext uri="{FF2B5EF4-FFF2-40B4-BE49-F238E27FC236}">
                <a16:creationId xmlns:a16="http://schemas.microsoft.com/office/drawing/2014/main" id="{FD00587E-D285-5BEA-2452-F25321B82136}"/>
              </a:ext>
            </a:extLst>
          </p:cNvPr>
          <p:cNvSpPr/>
          <p:nvPr/>
        </p:nvSpPr>
        <p:spPr>
          <a:xfrm>
            <a:off x="495300" y="1419225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To assess participation in qualitative text response examining whether engagement varies by gender, age, or education.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</p:txBody>
      </p:sp>
      <p:graphicFrame>
        <p:nvGraphicFramePr>
          <p:cNvPr id="84" name="Content Placeholder 8" descr="Smart Art icons">
            <a:extLst>
              <a:ext uri="{FF2B5EF4-FFF2-40B4-BE49-F238E27FC236}">
                <a16:creationId xmlns:a16="http://schemas.microsoft.com/office/drawing/2014/main" id="{92827C1F-38E9-878F-6B58-5FC1641C9F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3329115"/>
              </p:ext>
            </p:extLst>
          </p:nvPr>
        </p:nvGraphicFramePr>
        <p:xfrm>
          <a:off x="6875489" y="131179"/>
          <a:ext cx="2129364" cy="644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228725"/>
            <a:ext cx="4191000" cy="1581150"/>
          </a:xfrm>
          <a:prstGeom prst="roundRect">
            <a:avLst>
              <a:gd name="adj" fmla="val 4819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98174" y="1247775"/>
            <a:ext cx="419100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95300" y="1419225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Collection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95300" y="1762125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In-game survey (Dec 2023 - Mar 2024)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95300" y="2085975"/>
            <a:ext cx="3810000" cy="5715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76,175 sessions, 228 countries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open-ended questions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48200" y="1228725"/>
            <a:ext cx="4191000" cy="1581150"/>
          </a:xfrm>
          <a:prstGeom prst="roundRect">
            <a:avLst>
              <a:gd name="adj" fmla="val 4819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48200" y="1247775"/>
            <a:ext cx="419100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838700" y="1419225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Preprocessing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38700" y="1762125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Text cleaning &amp; detection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38700" y="2085975"/>
            <a:ext cx="3810000" cy="5715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Lingua-</a:t>
            </a:r>
            <a:r>
              <a:rPr lang="en-US" sz="1350" dirty="0" err="1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</a:t>
            </a: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language detection</a:t>
            </a:r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and Data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4800" y="2981325"/>
            <a:ext cx="4191000" cy="1581150"/>
          </a:xfrm>
          <a:prstGeom prst="roundRect">
            <a:avLst>
              <a:gd name="adj" fmla="val 4819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04800" y="3000375"/>
            <a:ext cx="419100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95300" y="3171825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Sentiment Analysis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5300" y="3514725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VADER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TextBlob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5300" y="3838575"/>
            <a:ext cx="3810000" cy="5715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classification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Polarity scores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48200" y="2987951"/>
            <a:ext cx="4191000" cy="1581150"/>
          </a:xfrm>
          <a:prstGeom prst="roundRect">
            <a:avLst>
              <a:gd name="adj" fmla="val 4819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48200" y="3000375"/>
            <a:ext cx="419100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838700" y="3171825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Thematic Coding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38700" y="3514725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grams - NVivo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Qualitative analysis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38700" y="3838575"/>
            <a:ext cx="3810000" cy="5715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Theory-driven framework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coding + n-grams</a:t>
            </a:r>
            <a:endParaRPr lang="en-US" sz="1350" dirty="0"/>
          </a:p>
        </p:txBody>
      </p:sp>
      <p:graphicFrame>
        <p:nvGraphicFramePr>
          <p:cNvPr id="24" name="Content Placeholder 8" descr="Smart Art icons">
            <a:extLst>
              <a:ext uri="{FF2B5EF4-FFF2-40B4-BE49-F238E27FC236}">
                <a16:creationId xmlns:a16="http://schemas.microsoft.com/office/drawing/2014/main" id="{47073E09-6377-F1B3-8088-802DA89744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3329115"/>
              </p:ext>
            </p:extLst>
          </p:nvPr>
        </p:nvGraphicFramePr>
        <p:xfrm>
          <a:off x="6875489" y="131179"/>
          <a:ext cx="2129364" cy="644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-11040"/>
            <a:ext cx="9144000" cy="8382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33725" y="229984"/>
            <a:ext cx="6111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 1: Engagement Patterns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14481" y="2152644"/>
            <a:ext cx="83067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Completion Among Engaged Players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14482" y="2403069"/>
            <a:ext cx="8306753" cy="267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97.6%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participants who responded to Q4 completed the entire survey.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4480" y="3022595"/>
            <a:ext cx="83067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→ Q5 Continuation Pattern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5920" y="3292048"/>
            <a:ext cx="830675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76.6%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Q4 respondents continued to answer Q5, with longer responses in Q4 (mean: </a:t>
            </a: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 words),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 (mean: </a:t>
            </a: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 words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6835" y="3973440"/>
            <a:ext cx="8534400" cy="1169640"/>
          </a:xfrm>
          <a:prstGeom prst="roundRect">
            <a:avLst>
              <a:gd name="adj" fmla="val 2976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23875" y="3973440"/>
            <a:ext cx="2612975" cy="95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8175" y="4087740"/>
            <a:ext cx="2432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8175" y="4278240"/>
            <a:ext cx="2432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22.6%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8175" y="4621140"/>
            <a:ext cx="2432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in education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89250" y="3973440"/>
            <a:ext cx="2612975" cy="95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03550" y="4087740"/>
            <a:ext cx="2432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03550" y="4278240"/>
            <a:ext cx="2432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403550" y="4621140"/>
            <a:ext cx="2432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went to school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54626" y="3973440"/>
            <a:ext cx="2612975" cy="9525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68926" y="4087740"/>
            <a:ext cx="2432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68926" y="4278240"/>
            <a:ext cx="2432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13.7pp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168926" y="4621140"/>
            <a:ext cx="2432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magnitude</a:t>
            </a:r>
            <a:endParaRPr lang="en-US" sz="1000" dirty="0"/>
          </a:p>
        </p:txBody>
      </p:sp>
      <p:graphicFrame>
        <p:nvGraphicFramePr>
          <p:cNvPr id="29" name="Content Placeholder 8" descr="Smart Art icons">
            <a:extLst>
              <a:ext uri="{FF2B5EF4-FFF2-40B4-BE49-F238E27FC236}">
                <a16:creationId xmlns:a16="http://schemas.microsoft.com/office/drawing/2014/main" id="{1A6B73E3-9ECF-0E29-02FA-10D99F3BC4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3329115"/>
              </p:ext>
            </p:extLst>
          </p:nvPr>
        </p:nvGraphicFramePr>
        <p:xfrm>
          <a:off x="6875489" y="131179"/>
          <a:ext cx="2129364" cy="644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0" name="Text 9">
            <a:extLst>
              <a:ext uri="{FF2B5EF4-FFF2-40B4-BE49-F238E27FC236}">
                <a16:creationId xmlns:a16="http://schemas.microsoft.com/office/drawing/2014/main" id="{8657392B-2769-8004-E788-41532E60A7E8}"/>
              </a:ext>
            </a:extLst>
          </p:cNvPr>
          <p:cNvSpPr/>
          <p:nvPr/>
        </p:nvSpPr>
        <p:spPr>
          <a:xfrm>
            <a:off x="470453" y="954155"/>
            <a:ext cx="2743200" cy="1028700"/>
          </a:xfrm>
          <a:prstGeom prst="roundRect">
            <a:avLst>
              <a:gd name="adj" fmla="val 5556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04AC3D4B-DB98-235D-433D-9FCF8054FA93}"/>
              </a:ext>
            </a:extLst>
          </p:cNvPr>
          <p:cNvSpPr/>
          <p:nvPr/>
        </p:nvSpPr>
        <p:spPr>
          <a:xfrm>
            <a:off x="603803" y="1087505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CLIMATE FEELINGS</a:t>
            </a:r>
            <a:endParaRPr lang="en-US" sz="900" dirty="0"/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25FAB26F-736C-31E2-DEAB-35875198118E}"/>
              </a:ext>
            </a:extLst>
          </p:cNvPr>
          <p:cNvSpPr/>
          <p:nvPr/>
        </p:nvSpPr>
        <p:spPr>
          <a:xfrm>
            <a:off x="603803" y="1278005"/>
            <a:ext cx="25260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2000" dirty="0"/>
          </a:p>
        </p:txBody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260E8FFB-5C10-7A2D-D589-40B4A1EF3848}"/>
              </a:ext>
            </a:extLst>
          </p:cNvPr>
          <p:cNvSpPr/>
          <p:nvPr/>
        </p:nvSpPr>
        <p:spPr>
          <a:xfrm>
            <a:off x="603803" y="1659005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3,338 responses</a:t>
            </a:r>
            <a:endParaRPr lang="en-US" sz="900" dirty="0"/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B30857B0-4B42-BCBE-D4DC-9946E56CA29C}"/>
              </a:ext>
            </a:extLst>
          </p:cNvPr>
          <p:cNvSpPr/>
          <p:nvPr/>
        </p:nvSpPr>
        <p:spPr>
          <a:xfrm>
            <a:off x="3366053" y="954155"/>
            <a:ext cx="2743200" cy="1028700"/>
          </a:xfrm>
          <a:prstGeom prst="roundRect">
            <a:avLst>
              <a:gd name="adj" fmla="val 5556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4B5FB43A-5141-D98F-86E4-282AD31F2826}"/>
              </a:ext>
            </a:extLst>
          </p:cNvPr>
          <p:cNvSpPr/>
          <p:nvPr/>
        </p:nvSpPr>
        <p:spPr>
          <a:xfrm>
            <a:off x="3499403" y="1087505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Q5: DAILY LIFE CHANGES</a:t>
            </a:r>
            <a:endParaRPr lang="en-US" sz="900" dirty="0"/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FFC63F48-9BE0-1479-5F71-CBC04C92562D}"/>
              </a:ext>
            </a:extLst>
          </p:cNvPr>
          <p:cNvSpPr/>
          <p:nvPr/>
        </p:nvSpPr>
        <p:spPr>
          <a:xfrm>
            <a:off x="3499403" y="1278005"/>
            <a:ext cx="25260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2000" dirty="0"/>
          </a:p>
        </p:txBody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F6226638-207D-9949-C9D0-260A99456987}"/>
              </a:ext>
            </a:extLst>
          </p:cNvPr>
          <p:cNvSpPr/>
          <p:nvPr/>
        </p:nvSpPr>
        <p:spPr>
          <a:xfrm>
            <a:off x="3499403" y="1659005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2,893 responses</a:t>
            </a:r>
            <a:endParaRPr lang="en-US" sz="900" dirty="0"/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C2241666-0642-4D91-3CB6-BAC4D5962FD5}"/>
              </a:ext>
            </a:extLst>
          </p:cNvPr>
          <p:cNvSpPr/>
          <p:nvPr/>
        </p:nvSpPr>
        <p:spPr>
          <a:xfrm>
            <a:off x="6261653" y="954155"/>
            <a:ext cx="2743200" cy="1028700"/>
          </a:xfrm>
          <a:prstGeom prst="roundRect">
            <a:avLst>
              <a:gd name="adj" fmla="val 5556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1" name="Text 18">
            <a:extLst>
              <a:ext uri="{FF2B5EF4-FFF2-40B4-BE49-F238E27FC236}">
                <a16:creationId xmlns:a16="http://schemas.microsoft.com/office/drawing/2014/main" id="{E207E2C3-3867-2ABD-5D24-0C7148A096CD}"/>
              </a:ext>
            </a:extLst>
          </p:cNvPr>
          <p:cNvSpPr/>
          <p:nvPr/>
        </p:nvSpPr>
        <p:spPr>
          <a:xfrm>
            <a:off x="6395003" y="1087505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 &amp; Q10</a:t>
            </a:r>
            <a:endParaRPr lang="en-US" sz="900" dirty="0"/>
          </a:p>
        </p:txBody>
      </p:sp>
      <p:sp>
        <p:nvSpPr>
          <p:cNvPr id="52" name="Text 19">
            <a:extLst>
              <a:ext uri="{FF2B5EF4-FFF2-40B4-BE49-F238E27FC236}">
                <a16:creationId xmlns:a16="http://schemas.microsoft.com/office/drawing/2014/main" id="{618048D2-D4F0-156C-1899-2BDE7554E395}"/>
              </a:ext>
            </a:extLst>
          </p:cNvPr>
          <p:cNvSpPr/>
          <p:nvPr/>
        </p:nvSpPr>
        <p:spPr>
          <a:xfrm>
            <a:off x="6395003" y="1278005"/>
            <a:ext cx="25260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&lt;0.1%</a:t>
            </a:r>
            <a:endParaRPr lang="en-US" sz="2000" dirty="0"/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AF881321-440B-2EA8-2108-502F2E071C9C}"/>
              </a:ext>
            </a:extLst>
          </p:cNvPr>
          <p:cNvSpPr/>
          <p:nvPr/>
        </p:nvSpPr>
        <p:spPr>
          <a:xfrm>
            <a:off x="6395003" y="1659005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responses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57224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 2: Sentiment Analysis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28613" y="865954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Sentiment Distribution (VADER)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4800" y="1215478"/>
            <a:ext cx="3669655" cy="571500"/>
          </a:xfrm>
          <a:prstGeom prst="rect">
            <a:avLst/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15380" y="1367878"/>
            <a:ext cx="10693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 Neutral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974455" y="1215478"/>
            <a:ext cx="3584377" cy="5715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15979" y="1367878"/>
            <a:ext cx="1123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 Positive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58832" y="1215478"/>
            <a:ext cx="1280071" cy="57150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05713" y="1367878"/>
            <a:ext cx="12098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Negative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3875" y="2206079"/>
            <a:ext cx="83067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4B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Age: Strongest Demographic Predictor</a:t>
            </a:r>
            <a:endParaRPr lang="en-US" sz="1500" dirty="0">
              <a:solidFill>
                <a:srgbClr val="34B468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23875" y="2472779"/>
            <a:ext cx="8306753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Kruskal-Wallis tests revealed </a:t>
            </a: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the strongest predictor of sentiment scores (H = 64.65, p &lt; 0.001), with </a:t>
            </a: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younger participants expressing significantly more positive affect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than older age groups. Gender and education showed modest but significant effects.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04800" y="3623221"/>
            <a:ext cx="4191000" cy="114300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7200" y="3775621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VADER vs TextBlob Agreement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4042321"/>
            <a:ext cx="396392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72.3%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457200" y="4423321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tools agreed on sentiment classification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48200" y="3566071"/>
            <a:ext cx="4191000" cy="1257300"/>
          </a:xfrm>
          <a:prstGeom prst="roundRect">
            <a:avLst>
              <a:gd name="adj" fmla="val 6061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00600" y="3718471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800600" y="3985171"/>
            <a:ext cx="3963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 platforms may attract participants more receptive to climate messaging, or gameplay context primes positive engagement</a:t>
            </a:r>
            <a:endParaRPr lang="en-US" sz="1200" dirty="0"/>
          </a:p>
        </p:txBody>
      </p:sp>
      <p:graphicFrame>
        <p:nvGraphicFramePr>
          <p:cNvPr id="23" name="Content Placeholder 8" descr="Smart Art icons">
            <a:extLst>
              <a:ext uri="{FF2B5EF4-FFF2-40B4-BE49-F238E27FC236}">
                <a16:creationId xmlns:a16="http://schemas.microsoft.com/office/drawing/2014/main" id="{7A05E56A-5DB7-3961-0745-4FCDC436CF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3329115"/>
              </p:ext>
            </p:extLst>
          </p:nvPr>
        </p:nvGraphicFramePr>
        <p:xfrm>
          <a:off x="6875489" y="131179"/>
          <a:ext cx="2129364" cy="644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554755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 3: Thematic Patterns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070670"/>
            <a:ext cx="4371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Dominant Themes in Player Responses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4800" y="1604070"/>
            <a:ext cx="4191000" cy="1581150"/>
          </a:xfrm>
          <a:prstGeom prst="roundRect">
            <a:avLst>
              <a:gd name="adj" fmla="val 4819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04800" y="1623120"/>
            <a:ext cx="419100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1794570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GAME EFFECT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023170"/>
            <a:ext cx="39639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47.7%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404170"/>
            <a:ext cx="3963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Awareness-Raising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32770"/>
            <a:ext cx="396392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Dominant theme: heightened awareness and knowledge about environmental issues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48200" y="1604070"/>
            <a:ext cx="4191000" cy="1581150"/>
          </a:xfrm>
          <a:prstGeom prst="roundRect">
            <a:avLst>
              <a:gd name="adj" fmla="val 4819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48200" y="1623120"/>
            <a:ext cx="419100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800600" y="1794570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RESPONSE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00600" y="2023170"/>
            <a:ext cx="39639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31.8%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00600" y="2404170"/>
            <a:ext cx="3963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Recycling Focus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632770"/>
            <a:ext cx="3963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mentioned behavior, reflecting accessibility of recycling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4800" y="3413820"/>
            <a:ext cx="8534400" cy="1097161"/>
          </a:xfrm>
          <a:prstGeom prst="roundRect">
            <a:avLst>
              <a:gd name="adj" fmla="val 520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28613" y="3413820"/>
            <a:ext cx="0" cy="1097161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23875" y="3585270"/>
            <a:ext cx="83067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Awareness-Action Tension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23875" y="3851970"/>
            <a:ext cx="830675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reveal gap between </a:t>
            </a:r>
            <a:r>
              <a:rPr lang="en-US" sz="12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generation</a:t>
            </a:r>
            <a:r>
              <a:rPr lang="en-US" sz="12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(dominant outcome) and </a:t>
            </a:r>
            <a:r>
              <a:rPr lang="en-US" sz="12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change</a:t>
            </a:r>
            <a:r>
              <a:rPr lang="en-US" sz="12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highlighting need for interventions bridging knowledge and action.</a:t>
            </a:r>
            <a:endParaRPr lang="en-US" sz="1200" dirty="0"/>
          </a:p>
        </p:txBody>
      </p:sp>
      <p:graphicFrame>
        <p:nvGraphicFramePr>
          <p:cNvPr id="21" name="Content Placeholder 8" descr="Smart Art icons">
            <a:extLst>
              <a:ext uri="{FF2B5EF4-FFF2-40B4-BE49-F238E27FC236}">
                <a16:creationId xmlns:a16="http://schemas.microsoft.com/office/drawing/2014/main" id="{E5CCA239-756F-586C-D753-AAD2DE72A1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3329115"/>
              </p:ext>
            </p:extLst>
          </p:nvPr>
        </p:nvGraphicFramePr>
        <p:xfrm>
          <a:off x="6875489" y="131179"/>
          <a:ext cx="2129364" cy="644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54309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 Patterns Summary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907112"/>
            <a:ext cx="8382000" cy="1135261"/>
          </a:xfrm>
          <a:prstGeom prst="roundRect">
            <a:avLst>
              <a:gd name="adj" fmla="val 6712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907112"/>
            <a:ext cx="0" cy="1135261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71500" y="1059512"/>
            <a:ext cx="8199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1500" y="1402412"/>
            <a:ext cx="819988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sentiment predictor — younger participants express more positive affect, older participants show more complex emotional responses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2213823"/>
            <a:ext cx="8382000" cy="891480"/>
          </a:xfrm>
          <a:prstGeom prst="roundRect">
            <a:avLst>
              <a:gd name="adj" fmla="val 8548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2213823"/>
            <a:ext cx="0" cy="89148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71500" y="2366223"/>
            <a:ext cx="8199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1500" y="2709123"/>
            <a:ext cx="819988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engagement predictor — "Still in education": 22.6% response rate vs 8.9% for "Never attended" (13.7pp gap)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1000" y="3276753"/>
            <a:ext cx="8382000" cy="891480"/>
          </a:xfrm>
          <a:prstGeom prst="roundRect">
            <a:avLst>
              <a:gd name="adj" fmla="val 8548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0050" y="3276753"/>
            <a:ext cx="0" cy="89148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71500" y="3429153"/>
            <a:ext cx="8199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71500" y="3772053"/>
            <a:ext cx="819988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 but significant effects — females and non-binary participants wrote longer, more detailed responses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1000" y="4377784"/>
            <a:ext cx="8382000" cy="533400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2628" y="4530184"/>
            <a:ext cx="8238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must account for demographic variation to maximize inclusive engagement</a:t>
            </a:r>
            <a:endParaRPr lang="en-US" sz="1200" dirty="0"/>
          </a:p>
        </p:txBody>
      </p:sp>
      <p:graphicFrame>
        <p:nvGraphicFramePr>
          <p:cNvPr id="18" name="Content Placeholder 8" descr="Smart Art icons">
            <a:extLst>
              <a:ext uri="{FF2B5EF4-FFF2-40B4-BE49-F238E27FC236}">
                <a16:creationId xmlns:a16="http://schemas.microsoft.com/office/drawing/2014/main" id="{4D03EE59-123D-38EF-2D75-E526F3E865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3329115"/>
              </p:ext>
            </p:extLst>
          </p:nvPr>
        </p:nvGraphicFramePr>
        <p:xfrm>
          <a:off x="6875489" y="131179"/>
          <a:ext cx="2129364" cy="644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Tones</a:t>
            </a:r>
            <a:endParaRPr lang="en-US" sz="2700" dirty="0"/>
          </a:p>
        </p:txBody>
      </p:sp>
      <p:sp>
        <p:nvSpPr>
          <p:cNvPr id="26" name="Text 21"/>
          <p:cNvSpPr/>
          <p:nvPr/>
        </p:nvSpPr>
        <p:spPr>
          <a:xfrm>
            <a:off x="304800" y="4078635"/>
            <a:ext cx="8534400" cy="723900"/>
          </a:xfrm>
          <a:prstGeom prst="roundRect">
            <a:avLst>
              <a:gd name="adj" fmla="val 789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2"/>
          <p:cNvSpPr/>
          <p:nvPr/>
        </p:nvSpPr>
        <p:spPr>
          <a:xfrm>
            <a:off x="323850" y="4078635"/>
            <a:ext cx="0" cy="72390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3"/>
          <p:cNvSpPr/>
          <p:nvPr/>
        </p:nvSpPr>
        <p:spPr>
          <a:xfrm>
            <a:off x="476250" y="4211985"/>
            <a:ext cx="8394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</a:t>
            </a:r>
            <a:r>
              <a:rPr lang="en-US" sz="12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Analysis concentrates on Q4 and Q5 due to substantially higher response rates </a:t>
            </a:r>
            <a:endParaRPr lang="en-US" sz="1200" dirty="0"/>
          </a:p>
        </p:txBody>
      </p:sp>
      <p:graphicFrame>
        <p:nvGraphicFramePr>
          <p:cNvPr id="29" name="Content Placeholder 8" descr="Smart Art icons">
            <a:extLst>
              <a:ext uri="{FF2B5EF4-FFF2-40B4-BE49-F238E27FC236}">
                <a16:creationId xmlns:a16="http://schemas.microsoft.com/office/drawing/2014/main" id="{58FBB840-5797-1E7E-116D-A791316F8D62}"/>
              </a:ext>
            </a:extLst>
          </p:cNvPr>
          <p:cNvGraphicFramePr>
            <a:graphicFrameLocks/>
          </p:cNvGraphicFramePr>
          <p:nvPr/>
        </p:nvGraphicFramePr>
        <p:xfrm>
          <a:off x="6875489" y="131179"/>
          <a:ext cx="2129364" cy="644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9128782-280B-B47E-A23A-9326D15DF6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901108"/>
            <a:ext cx="9004853" cy="407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699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</a:t>
            </a:r>
            <a:endParaRPr lang="en-US" sz="27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7C8CE0E-5CA1-CF77-2AB7-690834E70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98" y="1132232"/>
            <a:ext cx="3694082" cy="353253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80CD7E9-BB64-0975-D90A-1BC309A56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5746" y="1377397"/>
            <a:ext cx="3918200" cy="2744467"/>
          </a:xfrm>
          <a:prstGeom prst="rect">
            <a:avLst/>
          </a:prstGeom>
        </p:spPr>
      </p:pic>
      <p:graphicFrame>
        <p:nvGraphicFramePr>
          <p:cNvPr id="28" name="Content Placeholder 8" descr="Smart Art icons">
            <a:extLst>
              <a:ext uri="{FF2B5EF4-FFF2-40B4-BE49-F238E27FC236}">
                <a16:creationId xmlns:a16="http://schemas.microsoft.com/office/drawing/2014/main" id="{754A3181-A34A-9D3E-0526-A8073B2FD2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5087246"/>
              </p:ext>
            </p:extLst>
          </p:nvPr>
        </p:nvGraphicFramePr>
        <p:xfrm>
          <a:off x="6875489" y="131179"/>
          <a:ext cx="2129364" cy="644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260969"/>
            <a:ext cx="416795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6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144858"/>
            <a:ext cx="8153400" cy="2404247"/>
          </a:xfrm>
          <a:prstGeom prst="roundRect">
            <a:avLst>
              <a:gd name="adj" fmla="val 6250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1050" y="1316309"/>
            <a:ext cx="781050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 platforms enable climate discourse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scale (76K sessions, 228 countries)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Neutral-positive sentiment dominates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(85%), challenging doom narratives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Awareness-action gap identified: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47.7% awareness, limited behavior change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 matter: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Education strongest predictor of engagement</a:t>
            </a:r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endParaRPr lang="en-US" sz="135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English only data for sentiment and theme analysis </a:t>
            </a:r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Single Coder Bias for NVIVO analysis</a:t>
            </a:r>
            <a:r>
              <a:rPr lang="en-US" sz="135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 recommend intercoder reliability</a:t>
            </a:r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endParaRPr lang="en-US" sz="1350" dirty="0">
              <a:solidFill>
                <a:srgbClr val="1F2937"/>
              </a:solidFill>
              <a:latin typeface="Arial" pitchFamily="34" charset="0"/>
              <a:cs typeface="Arial" pitchFamily="34" charset="-120"/>
            </a:endParaRPr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endParaRPr lang="en-US" sz="1350" dirty="0">
              <a:solidFill>
                <a:srgbClr val="1F2937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3720556"/>
            <a:ext cx="8153400" cy="556171"/>
          </a:xfrm>
          <a:prstGeom prst="roundRect">
            <a:avLst>
              <a:gd name="adj" fmla="val 1370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1050" y="3892005"/>
            <a:ext cx="796671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awareness and action remains the critical challenge for climate communication in gaming</a:t>
            </a:r>
            <a:endParaRPr lang="en-US" sz="1200" dirty="0"/>
          </a:p>
        </p:txBody>
      </p:sp>
      <p:graphicFrame>
        <p:nvGraphicFramePr>
          <p:cNvPr id="8" name="Content Placeholder 8" descr="Smart Art icons">
            <a:extLst>
              <a:ext uri="{FF2B5EF4-FFF2-40B4-BE49-F238E27FC236}">
                <a16:creationId xmlns:a16="http://schemas.microsoft.com/office/drawing/2014/main" id="{BD848F19-CC08-63BC-E8C6-2321E0DB59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26264"/>
              </p:ext>
            </p:extLst>
          </p:nvPr>
        </p:nvGraphicFramePr>
        <p:xfrm>
          <a:off x="6875489" y="131179"/>
          <a:ext cx="2129364" cy="644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93016-1880-B152-311C-188EBAEEC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ED1287D-A57F-B8D2-109C-2D024CF85300}"/>
              </a:ext>
            </a:extLst>
          </p:cNvPr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5E8E511-F541-0B26-C9B3-471962B2FC33}"/>
              </a:ext>
            </a:extLst>
          </p:cNvPr>
          <p:cNvSpPr/>
          <p:nvPr/>
        </p:nvSpPr>
        <p:spPr>
          <a:xfrm>
            <a:off x="304800" y="2286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References</a:t>
            </a:r>
            <a:endParaRPr lang="en-US" sz="2700" dirty="0"/>
          </a:p>
        </p:txBody>
      </p:sp>
      <p:graphicFrame>
        <p:nvGraphicFramePr>
          <p:cNvPr id="28" name="Content Placeholder 8" descr="Smart Art icons">
            <a:extLst>
              <a:ext uri="{FF2B5EF4-FFF2-40B4-BE49-F238E27FC236}">
                <a16:creationId xmlns:a16="http://schemas.microsoft.com/office/drawing/2014/main" id="{7A73E0EB-8619-9FF7-4078-D81197A0A546}"/>
              </a:ext>
            </a:extLst>
          </p:cNvPr>
          <p:cNvGraphicFramePr>
            <a:graphicFrameLocks/>
          </p:cNvGraphicFramePr>
          <p:nvPr/>
        </p:nvGraphicFramePr>
        <p:xfrm>
          <a:off x="6875489" y="131179"/>
          <a:ext cx="2129364" cy="644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A2BA7AD-D28B-AAB0-C3EB-066882B977A1}"/>
              </a:ext>
            </a:extLst>
          </p:cNvPr>
          <p:cNvSpPr txBox="1"/>
          <p:nvPr/>
        </p:nvSpPr>
        <p:spPr>
          <a:xfrm>
            <a:off x="304800" y="1031443"/>
            <a:ext cx="870005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Carman, J.P. </a:t>
            </a:r>
            <a:r>
              <a:rPr lang="en-GB" sz="1400" i="1" dirty="0"/>
              <a:t>et al.</a:t>
            </a:r>
            <a:r>
              <a:rPr lang="en-GB" sz="1400" dirty="0"/>
              <a:t> (2024) “Geeks versus climate change: understanding American video gamers’ engagement with global warming,” </a:t>
            </a:r>
            <a:r>
              <a:rPr lang="en-GB" sz="1400" i="1" dirty="0"/>
              <a:t>Climatic Change</a:t>
            </a:r>
            <a:r>
              <a:rPr lang="en-GB" sz="1400" dirty="0"/>
              <a:t>, 177(6), p. 85. Available at: </a:t>
            </a:r>
            <a:r>
              <a:rPr lang="en-GB" sz="1400" dirty="0">
                <a:hlinkClick r:id="rId8"/>
              </a:rPr>
              <a:t>https://doi.org/10.1007/s10584-024-03747-w</a:t>
            </a:r>
            <a:r>
              <a:rPr lang="en-GB" sz="1400" dirty="0"/>
              <a:t>.</a:t>
            </a:r>
          </a:p>
          <a:p>
            <a:endParaRPr lang="en-GB" sz="1400" dirty="0"/>
          </a:p>
          <a:p>
            <a:r>
              <a:rPr lang="en-GB" sz="1400" dirty="0"/>
              <a:t>Hansen, K. and </a:t>
            </a:r>
            <a:r>
              <a:rPr lang="en-GB" sz="1400" dirty="0" err="1"/>
              <a:t>Świderska</a:t>
            </a:r>
            <a:r>
              <a:rPr lang="en-GB" sz="1400" dirty="0"/>
              <a:t>, A. (2023) “Integrating open- and closed-ended questions on attitudes towards outgroups with different methods of text analysis,” </a:t>
            </a:r>
            <a:r>
              <a:rPr lang="en-GB" sz="1400" i="1" dirty="0" err="1"/>
              <a:t>Behavior</a:t>
            </a:r>
            <a:r>
              <a:rPr lang="en-GB" sz="1400" i="1" dirty="0"/>
              <a:t> Research Methods</a:t>
            </a:r>
            <a:r>
              <a:rPr lang="en-GB" sz="1400" dirty="0"/>
              <a:t>, 56(5), pp. 4802–4822. Available at: </a:t>
            </a:r>
            <a:r>
              <a:rPr lang="en-GB" sz="1400" dirty="0">
                <a:hlinkClick r:id="rId9"/>
              </a:rPr>
              <a:t>https://doi.org/10.3758/s13428-023-02218-x</a:t>
            </a:r>
            <a:r>
              <a:rPr lang="en-GB" sz="1400" dirty="0"/>
              <a:t>.</a:t>
            </a:r>
          </a:p>
          <a:p>
            <a:endParaRPr lang="en-GB" sz="1400" dirty="0"/>
          </a:p>
          <a:p>
            <a:r>
              <a:rPr lang="en-GB" sz="1400" dirty="0"/>
              <a:t>Harris, R. </a:t>
            </a:r>
            <a:r>
              <a:rPr lang="en-GB" sz="1400" i="1" dirty="0"/>
              <a:t>et al.</a:t>
            </a:r>
            <a:r>
              <a:rPr lang="en-GB" sz="1400" dirty="0"/>
              <a:t> (2025) “Play2Act2 Case Study Report.” </a:t>
            </a:r>
            <a:r>
              <a:rPr lang="en-GB" sz="1400" dirty="0" err="1"/>
              <a:t>Zenodo</a:t>
            </a:r>
            <a:r>
              <a:rPr lang="en-GB" sz="1400" dirty="0"/>
              <a:t>. Available at: </a:t>
            </a:r>
            <a:r>
              <a:rPr lang="en-GB" sz="1400" dirty="0">
                <a:hlinkClick r:id="rId10"/>
              </a:rPr>
              <a:t>https://doi.org/10.5281/zenodo.17955516</a:t>
            </a:r>
            <a:r>
              <a:rPr lang="en-GB" sz="1400" dirty="0"/>
              <a:t>.</a:t>
            </a:r>
          </a:p>
          <a:p>
            <a:endParaRPr lang="en-GB" sz="1400" dirty="0"/>
          </a:p>
          <a:p>
            <a:r>
              <a:rPr lang="en-GB" sz="1400" dirty="0"/>
              <a:t>Hollins, P. (2023) “The Application of Games to Engage Citizens in Climate Change Policy Development .” </a:t>
            </a:r>
            <a:r>
              <a:rPr lang="en-GB" sz="1400" dirty="0" err="1"/>
              <a:t>Zenodo</a:t>
            </a:r>
            <a:r>
              <a:rPr lang="en-GB" sz="1400" dirty="0"/>
              <a:t>. Available at: </a:t>
            </a:r>
            <a:r>
              <a:rPr lang="en-GB" sz="1400" dirty="0">
                <a:hlinkClick r:id="rId11"/>
              </a:rPr>
              <a:t>https://doi.org/10.34190/ecgbl.17.1.1890</a:t>
            </a:r>
            <a:r>
              <a:rPr lang="en-GB" sz="1400" dirty="0"/>
              <a:t>.</a:t>
            </a:r>
          </a:p>
          <a:p>
            <a:endParaRPr lang="en-GB" sz="1400" dirty="0"/>
          </a:p>
          <a:p>
            <a:r>
              <a:rPr lang="en-GB" sz="1400" dirty="0"/>
              <a:t>Hollins, P. </a:t>
            </a:r>
            <a:r>
              <a:rPr lang="en-GB" sz="1400" i="1" dirty="0"/>
              <a:t>et al.</a:t>
            </a:r>
            <a:r>
              <a:rPr lang="en-GB" sz="1400" dirty="0"/>
              <a:t> (2023) “The Games Realising Effective &amp; Affective Transformation (GREAT) Project – A pathway to sustainable impact on climate change policy .” </a:t>
            </a:r>
            <a:r>
              <a:rPr lang="en-GB" sz="1400" dirty="0" err="1"/>
              <a:t>Zenodo</a:t>
            </a:r>
            <a:r>
              <a:rPr lang="en-GB" sz="1400" dirty="0"/>
              <a:t>. Available at: </a:t>
            </a:r>
            <a:r>
              <a:rPr lang="en-GB" sz="1400" dirty="0">
                <a:hlinkClick r:id="rId12"/>
              </a:rPr>
              <a:t>https://doi.org/10.5281/zenodo.7802446</a:t>
            </a:r>
            <a:r>
              <a:rPr lang="en-GB" sz="1400" dirty="0"/>
              <a:t>.</a:t>
            </a:r>
          </a:p>
          <a:p>
            <a:endParaRPr lang="en-GB" sz="1400" dirty="0"/>
          </a:p>
          <a:p>
            <a:r>
              <a:rPr lang="en-GB" sz="1400" dirty="0"/>
              <a:t>Yau, J. </a:t>
            </a:r>
            <a:r>
              <a:rPr lang="en-GB" sz="1400" i="1" dirty="0"/>
              <a:t>et al.</a:t>
            </a:r>
            <a:r>
              <a:rPr lang="en-GB" sz="1400" dirty="0"/>
              <a:t> (2025) “The Reach of Digital Games and Their Potential as Global Communication Tools,” </a:t>
            </a:r>
            <a:r>
              <a:rPr lang="en-GB" sz="1400" i="1" dirty="0"/>
              <a:t>European Conference on Games Based Learning</a:t>
            </a:r>
            <a:r>
              <a:rPr lang="en-GB" sz="1400" dirty="0"/>
              <a:t>, 19, pp. 910–917. Available at: https://doi.org/10.34190/ecgbl.19.2.3874.</a:t>
            </a:r>
          </a:p>
        </p:txBody>
      </p:sp>
    </p:spTree>
    <p:extLst>
      <p:ext uri="{BB962C8B-B14F-4D97-AF65-F5344CB8AC3E}">
        <p14:creationId xmlns:p14="http://schemas.microsoft.com/office/powerpoint/2010/main" val="3175951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47010" y="1377404"/>
            <a:ext cx="311867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00"/>
              </a:lnSpc>
              <a:spcAft>
                <a:spcPts val="15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8601" y="2921140"/>
            <a:ext cx="62306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Aft>
                <a:spcPts val="3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85227" y="2725801"/>
            <a:ext cx="6108502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1187</Words>
  <Application>Microsoft Office PowerPoint</Application>
  <PresentationFormat>On-screen Show (16:9)</PresentationFormat>
  <Paragraphs>157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Engaging with Climate Change Through Games - Viva Presentation</dc:title>
  <dc:subject>Play2Act2 Survey Analysis</dc:subject>
  <dc:creator>Climate Change Gaming Research</dc:creator>
  <cp:lastModifiedBy>Ene, Victor</cp:lastModifiedBy>
  <cp:revision>10</cp:revision>
  <dcterms:created xsi:type="dcterms:W3CDTF">2026-01-09T11:31:29Z</dcterms:created>
  <dcterms:modified xsi:type="dcterms:W3CDTF">2026-01-09T15:48:35Z</dcterms:modified>
</cp:coreProperties>
</file>