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9"/>
  </p:notesMasterIdLst>
  <p:handoutMasterIdLst>
    <p:handoutMasterId r:id="rId20"/>
  </p:handoutMasterIdLst>
  <p:sldIdLst>
    <p:sldId id="257" r:id="rId2"/>
    <p:sldId id="274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B8F1DB-4322-411D-BE1D-800208928B76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FDFBCE-9522-474A-B58A-C4B46B53DA6F}" type="datetime1">
              <a:rPr lang="en-US" smtClean="0"/>
              <a:t>8/1/2025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11EB-1A38-8645-8D30-AD6A4B978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679CE-5953-9D84-D700-2C05A6A63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5473F-4E5C-0B8C-206C-4D98F96E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AE40C9-D0BC-431E-94CA-3A0AFB9CF2DC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A5AC-0F78-AC8C-7285-6E5DBECF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D326-E402-E9CA-437E-07CBABDB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36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A893-9BA4-D631-CC74-37ED3014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32E09-5505-E374-790F-7EF880EC0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4AA6-26BD-26E6-18BF-CDA59965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8F411-BAD7-84D6-A872-656DB876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2E49-E749-A2A4-6585-0B29EAB1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4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1742-9413-57E5-0A4D-C8ADE86D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FACA2-C153-D49E-2EFF-B9818E75A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E059F-556B-A9A4-1F2A-A5B6821A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153D3D-6C97-4D7F-B772-F372108194EF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3263A-B2A9-5A56-C654-09EA5157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304BE-7774-ACE0-8798-83F9F397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94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3989-F81B-C4D4-A934-307D1DDA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9EFD1-C55E-DFA9-2765-2460D9314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88898-9ACB-5AA9-C523-66727216D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71A9E-AE97-2D79-C9E3-C5F626C8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A98EE32-EA07-47DB-A8CB-BEEA4248E79E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92401-84B9-E75A-EC60-665A0BBF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6805F-95C0-28E5-3692-54403FD2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6B7D-E240-E17B-5321-88AC3045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E65F2-B8E1-F770-9C47-FC1A88562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D9C2E-E2F4-D552-85A3-87D43EA14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5607A-8B72-1F7D-B481-B2484461E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DB552-F2F0-1779-B4F2-B7C152B36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5E7CA0-CC5F-47B7-CBBD-84CE5626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8F3DCD7-2315-4B3C-A783-152D4A0443CE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95D32-ED47-66CE-458E-F78CB8D9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9A341-B6F9-1DC0-0EB8-9DD4108E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54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A80B-AFC3-EB50-F608-F4EC1D69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616-AE47-F573-1B6B-208D0572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14CA0E2-3171-4709-80F4-3E7D9CEDA1F5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B81D0-1022-C4ED-1693-2FBCA33E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10F76-AB51-4E1B-5F4B-9325FFAB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59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EA561-9391-283C-7F9F-750869BC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9DA61-5F68-4F19-27C5-E094E9E8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8AA94-F76D-0BDA-9491-D528B2F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9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7C9C-3097-4113-3498-E8279C31D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8ECD-BAB2-8CBB-A14D-EA1F39044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FFA09-E3C7-C3F5-3554-95E892C38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C96AF-5CB0-F98B-7500-2D4308E9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D2B994F-6814-42FC-A99F-20C3AC32CA91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7470B-1303-228F-1AFF-6170C7BB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DA78C-930E-7A99-7EF1-4838E695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1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378C0-3530-100A-95BE-07BE2CAF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5A3BD-C90E-9B51-E7A3-0087AC6AF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C7229-24BD-7DBF-D959-27A6E6293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61A22-F444-0A12-4F78-C3DBBFCD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FE6B8DD-2C22-484C-9134-B065A54C675C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F9D73-ECE8-87DA-8B8E-CE3856F3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0F166-CBE2-44A1-62E6-2F0F5AEF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14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2EF3-95A5-81D0-0100-DF6EDDA1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8CD03-4B43-16F1-7C1D-4CC086596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C3C9F-36AC-A931-CA02-F3AE4FF1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8ACE20-7520-4CBD-AF10-4181E484D505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E5750-E9C8-6363-5B63-CD3CD137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2ABC-9D52-6B1F-EC2A-7D362C31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33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7C0E99-C9B9-1A5D-966E-6B0B59650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7253E-5D80-8B38-A393-B6FB3E623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94C21-B5C5-9712-9813-7BF4B2C0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7010D17-85D8-40AF-A827-D3D53BD21CF7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888A6-0A55-8B22-40A0-67A2C415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F7FEF-ECF0-E34D-F172-3766D405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4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112987-123B-7435-4B66-961EA091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F70EA-5179-674E-5554-606D8CE0F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AB53E-5B83-5422-671E-D6EB689C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601AA8C-C1C6-4293-BB33-7DEFE4232294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77419-A9BC-837E-D7C8-0A7161B95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F3117-5781-98BD-2598-6A532CADE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5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999" y="1097281"/>
            <a:ext cx="6253317" cy="2331719"/>
          </a:xfrm>
        </p:spPr>
        <p:txBody>
          <a:bodyPr rtlCol="0">
            <a:normAutofit/>
          </a:bodyPr>
          <a:lstStyle/>
          <a:p>
            <a:r>
              <a:rPr lang="en-US" sz="3600" b="1" dirty="0"/>
              <a:t>Modelling Cognitive Decline Through Conversation: A Data-Driven Framework for Dementia-Focused AI Agents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4" y="4611779"/>
            <a:ext cx="6269347" cy="1771604"/>
          </a:xfrm>
        </p:spPr>
        <p:txBody>
          <a:bodyPr rtlCol="0">
            <a:normAutofit fontScale="25000" lnSpcReduction="20000"/>
          </a:bodyPr>
          <a:lstStyle/>
          <a:p>
            <a:pPr algn="l"/>
            <a:r>
              <a:rPr lang="en-GB" sz="9600" b="1" dirty="0">
                <a:latin typeface="+mj-lt"/>
              </a:rPr>
              <a:t>Victor Ene | Student Number: 2318217</a:t>
            </a:r>
          </a:p>
          <a:p>
            <a:pPr algn="l"/>
            <a:r>
              <a:rPr lang="en-GB" sz="9600" b="1" dirty="0">
                <a:latin typeface="+mj-lt"/>
              </a:rPr>
              <a:t>M.Sc. Data Analytics &amp; Technologies</a:t>
            </a:r>
          </a:p>
          <a:p>
            <a:pPr algn="l"/>
            <a:r>
              <a:rPr lang="en-GB" sz="9600" b="1" dirty="0">
                <a:latin typeface="+mj-lt"/>
              </a:rPr>
              <a:t>Module: Research Methods</a:t>
            </a:r>
          </a:p>
          <a:p>
            <a:pPr algn="l"/>
            <a:r>
              <a:rPr lang="en-GB" sz="9600" b="1" dirty="0">
                <a:latin typeface="+mj-lt"/>
              </a:rPr>
              <a:t>Tutor: Dr. Irum Feroz</a:t>
            </a:r>
          </a:p>
          <a:p>
            <a:pPr algn="l"/>
            <a:br>
              <a:rPr lang="en-GB" b="1" dirty="0">
                <a:latin typeface="+mj-lt"/>
              </a:rPr>
            </a:br>
            <a:endParaRPr lang="en-gb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93E0-A103-85AD-942F-2EB2177A9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64" y="22123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What if our daily conversations held the key to tackling the UK's leading cause of death?</a:t>
            </a:r>
            <a:endParaRPr lang="en-GB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BD79-43A1-AB20-5E1C-708BB2F3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6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BB82-6329-C377-755A-93D011F8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Introduction: The Dementia Challenge &amp; AI's Untapped Potential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DE830-E521-5F6A-DC4B-A7DFE8078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7805"/>
            <a:ext cx="10515600" cy="4139157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The Problem:</a:t>
            </a:r>
            <a:r>
              <a:rPr lang="en-US" dirty="0"/>
              <a:t> Dementia is the UK's leading cause of death, placing immense strain on the NHS, social care, and families.</a:t>
            </a:r>
          </a:p>
          <a:p>
            <a:pPr fontAlgn="base"/>
            <a:r>
              <a:rPr lang="en-US" b="1" dirty="0"/>
              <a:t>Current Clinical Pathway:</a:t>
            </a:r>
            <a:r>
              <a:rPr lang="en-US" dirty="0"/>
              <a:t> Relies on infrequent, in-clinic cognitive tests, often leading to delayed diagnosis.</a:t>
            </a:r>
          </a:p>
          <a:p>
            <a:pPr fontAlgn="base"/>
            <a:r>
              <a:rPr lang="en-US" b="1" dirty="0"/>
              <a:t>Current AI Role:</a:t>
            </a:r>
            <a:r>
              <a:rPr lang="en-US" dirty="0"/>
              <a:t> Conversational AI is mainly used for basic companionship and support, reducing loneliness but missing a critical opportunity.</a:t>
            </a:r>
          </a:p>
          <a:p>
            <a:r>
              <a:rPr lang="en-US" b="1" dirty="0"/>
              <a:t>The Vision:</a:t>
            </a:r>
            <a:r>
              <a:rPr lang="en-US" dirty="0"/>
              <a:t> To transform AI agents from simple companions into sophisticated clinical tools for early detection and continuous, unobtrusive monitoring.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FF332-D311-1E9B-1CFD-A6D5D720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9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7323-FF2B-14A7-D171-46460773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A7A4-2722-F8A4-82CB-237B23F1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err="1"/>
              <a:t>Underutilised</a:t>
            </a:r>
            <a:r>
              <a:rPr lang="en-US" b="1" dirty="0"/>
              <a:t> Data:</a:t>
            </a:r>
            <a:r>
              <a:rPr lang="en-US" dirty="0"/>
              <a:t> Conversational AI agents generate vast amounts of dialogue data, which remains largely untapped for cognitive analysis.</a:t>
            </a:r>
          </a:p>
          <a:p>
            <a:pPr fontAlgn="base"/>
            <a:r>
              <a:rPr lang="en-US" b="1" dirty="0"/>
              <a:t>Missed Indicators:</a:t>
            </a:r>
            <a:r>
              <a:rPr lang="en-US" dirty="0"/>
              <a:t> Subtle changes in language—such as reduced lexical diversity, simpler syntax, or disorganized speech—are early signs of cognitive decline but often go undetected.</a:t>
            </a:r>
          </a:p>
          <a:p>
            <a:r>
              <a:rPr lang="en-US" b="1" dirty="0"/>
              <a:t>The Gap:</a:t>
            </a:r>
            <a:r>
              <a:rPr lang="en-US" dirty="0"/>
              <a:t> There is no validated framework to systematically translate this rich conversational data into clinically relevant insights for diagnosis and monitoring.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980DF-8E08-09DA-3152-3EECFABB8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400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74656-B32C-3B30-AA35-4DA66320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Research Questions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2C9A-8C01-D493-583C-0E9354B0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Markers:</a:t>
            </a:r>
            <a:r>
              <a:rPr lang="en-US" dirty="0"/>
              <a:t> What key linguistic and paralinguistic markers of cognitive decline can be captured and quantified by conversational AI?</a:t>
            </a:r>
          </a:p>
          <a:p>
            <a:pPr fontAlgn="base"/>
            <a:r>
              <a:rPr lang="en-US" b="1" dirty="0"/>
              <a:t>Prediction:</a:t>
            </a:r>
            <a:r>
              <a:rPr lang="en-US" dirty="0"/>
              <a:t> Can machine learning models effectively classify and predict cognitive deterioration using these linguistic features?</a:t>
            </a:r>
          </a:p>
          <a:p>
            <a:pPr fontAlgn="base"/>
            <a:r>
              <a:rPr lang="en-US" b="1" dirty="0"/>
              <a:t>Framework:</a:t>
            </a:r>
            <a:r>
              <a:rPr lang="en-US" dirty="0"/>
              <a:t> What are the essential components of a framework to translate raw conversational data into clinical cognitive biomarkers?</a:t>
            </a:r>
          </a:p>
          <a:p>
            <a:r>
              <a:rPr lang="en-US" b="1" dirty="0"/>
              <a:t>Ethics:</a:t>
            </a:r>
            <a:r>
              <a:rPr lang="en-US" dirty="0"/>
              <a:t> What are the primary ethical challenges (privacy, consent, bias) and what mitigation strategies are required for responsible implementation?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5005-402A-3FFA-5FBF-069C2562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81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CB13-B398-214A-95CA-710846E5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Research Aim &amp; 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82322-5826-D7BF-299C-F3E422228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Aim</a:t>
            </a:r>
            <a:r>
              <a:rPr lang="en-US" dirty="0"/>
              <a:t>: To design and propose a data-driven conversational AI framework that can effectively model and predict cognitive decline by systematically </a:t>
            </a:r>
            <a:r>
              <a:rPr lang="en-US" dirty="0" err="1"/>
              <a:t>analysing</a:t>
            </a:r>
            <a:r>
              <a:rPr lang="en-US" dirty="0"/>
              <a:t> linguistic features.</a:t>
            </a:r>
          </a:p>
          <a:p>
            <a:endParaRPr lang="en-US" b="0" dirty="0">
              <a:effectLst/>
            </a:endParaRPr>
          </a:p>
          <a:p>
            <a:pPr marL="0" indent="0">
              <a:buNone/>
            </a:pPr>
            <a:r>
              <a:rPr lang="en-US" b="1" dirty="0"/>
              <a:t>Objectives:</a:t>
            </a:r>
            <a:endParaRPr lang="en-US" b="0" dirty="0">
              <a:effectLst/>
            </a:endParaRPr>
          </a:p>
          <a:p>
            <a:pPr fontAlgn="base"/>
            <a:r>
              <a:rPr lang="en-US" dirty="0"/>
              <a:t>Pinpoint key linguistic markers of cognitive decline and design predictive models.</a:t>
            </a:r>
          </a:p>
          <a:p>
            <a:pPr fontAlgn="base"/>
            <a:r>
              <a:rPr lang="en-US" dirty="0"/>
              <a:t>Develop a conceptual framework for ethical data collection, feature extraction, and model validation.</a:t>
            </a:r>
          </a:p>
          <a:p>
            <a:pPr fontAlgn="base"/>
            <a:r>
              <a:rPr lang="en-US" dirty="0"/>
              <a:t>Investigate challenges of bias, privacy, and explainability, proposing mitigation strategies.</a:t>
            </a:r>
          </a:p>
          <a:p>
            <a:r>
              <a:rPr lang="en-US" dirty="0"/>
              <a:t>Assess the framework's potential for real-world integration and its acceptability among stakeholders.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22D9F-AAFF-3639-6E7A-9BA6C8B3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24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03E2-E94B-B271-A200-A12111D4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Research Design: A Pragmatic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A8EC8-817A-62CD-6341-FF6FE46BF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389"/>
            <a:ext cx="10515600" cy="41565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pragmatic, mixed-methods strategy</a:t>
            </a:r>
            <a:r>
              <a:rPr lang="en-US" dirty="0"/>
              <a:t> is chosen because it addresses both the technical and human dimensions of the problem.</a:t>
            </a:r>
          </a:p>
          <a:p>
            <a:pPr marL="0" indent="0">
              <a:buNone/>
            </a:pPr>
            <a:endParaRPr lang="en-US" b="0" dirty="0">
              <a:effectLst/>
            </a:endParaRPr>
          </a:p>
          <a:p>
            <a:pPr fontAlgn="base"/>
            <a:r>
              <a:rPr lang="en-US" b="1" dirty="0"/>
              <a:t>Quantitative (Positivist):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What:</a:t>
            </a:r>
            <a:r>
              <a:rPr lang="en-US" dirty="0"/>
              <a:t> Statistical analysis, Natural Language Processing (NLP), and machine learning model development.</a:t>
            </a:r>
          </a:p>
          <a:p>
            <a:pPr marL="0" indent="0" fontAlgn="base">
              <a:buNone/>
            </a:pPr>
            <a:r>
              <a:rPr lang="en-US" b="1" dirty="0"/>
              <a:t>Why:</a:t>
            </a:r>
            <a:r>
              <a:rPr lang="en-US" dirty="0"/>
              <a:t> To build and validate a technically robust and clinically reliable predictive model.</a:t>
            </a:r>
          </a:p>
          <a:p>
            <a:pPr marL="0" indent="0" fontAlgn="base">
              <a:buNone/>
            </a:pPr>
            <a:r>
              <a:rPr lang="en-US" i="1" dirty="0"/>
              <a:t>Addresses Objectives 1 &amp; 2.</a:t>
            </a:r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52A7D-9044-4D05-2F4B-5DAD6B3E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96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60250-A61F-34A4-6EA6-AD51E901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6651"/>
            <a:ext cx="10515600" cy="5210312"/>
          </a:xfrm>
        </p:spPr>
        <p:txBody>
          <a:bodyPr/>
          <a:lstStyle/>
          <a:p>
            <a:pPr fontAlgn="base"/>
            <a:r>
              <a:rPr lang="en-US" b="1" dirty="0"/>
              <a:t>Qualitative (Interpretivist):</a:t>
            </a:r>
            <a:endParaRPr lang="en-US" dirty="0"/>
          </a:p>
          <a:p>
            <a:pPr marL="0" indent="0" fontAlgn="base">
              <a:buNone/>
            </a:pPr>
            <a:r>
              <a:rPr lang="en-US" b="1" dirty="0"/>
              <a:t>What:</a:t>
            </a:r>
            <a:r>
              <a:rPr lang="en-US" dirty="0"/>
              <a:t> Interviews and focus groups with patients, caregivers, and clinicians.</a:t>
            </a:r>
          </a:p>
          <a:p>
            <a:pPr marL="0" indent="0" fontAlgn="base">
              <a:buNone/>
            </a:pPr>
            <a:r>
              <a:rPr lang="en-US" b="1" dirty="0"/>
              <a:t>Why:</a:t>
            </a:r>
            <a:r>
              <a:rPr lang="en-US" dirty="0"/>
              <a:t> To understand user needs, fears, and ethical concerns (trust, privacy, usability).</a:t>
            </a:r>
          </a:p>
          <a:p>
            <a:pPr marL="0" indent="0" fontAlgn="base">
              <a:buNone/>
            </a:pPr>
            <a:r>
              <a:rPr lang="en-US" i="1" dirty="0"/>
              <a:t>Addresses Objective 3.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US" b="1" dirty="0"/>
              <a:t>Justification:</a:t>
            </a:r>
            <a:r>
              <a:rPr lang="en-US" dirty="0"/>
              <a:t> This integrated approach ensures the final framework is not only </a:t>
            </a:r>
            <a:r>
              <a:rPr lang="en-US" b="1" dirty="0"/>
              <a:t>technically accurate</a:t>
            </a:r>
            <a:r>
              <a:rPr lang="en-US" dirty="0"/>
              <a:t> but also </a:t>
            </a:r>
            <a:r>
              <a:rPr lang="en-US" b="1" dirty="0"/>
              <a:t>ethically responsible, human-</a:t>
            </a:r>
            <a:r>
              <a:rPr lang="en-US" b="1" dirty="0" err="1"/>
              <a:t>centred</a:t>
            </a:r>
            <a:r>
              <a:rPr lang="en-US" b="1" dirty="0"/>
              <a:t>, and fit for real-world use.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942D3-539A-AB64-C387-E93688DA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64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5BE3-6F60-0984-9672-F2BFB5949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Literature Review: Key Findings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C97C6F-D1A5-F32B-D6AA-3C7B1D8FD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228574"/>
              </p:ext>
            </p:extLst>
          </p:nvPr>
        </p:nvGraphicFramePr>
        <p:xfrm>
          <a:off x="984070" y="1825624"/>
          <a:ext cx="9605553" cy="4512467"/>
        </p:xfrm>
        <a:graphic>
          <a:graphicData uri="http://schemas.openxmlformats.org/drawingml/2006/table">
            <a:tbl>
              <a:tblPr/>
              <a:tblGrid>
                <a:gridCol w="2397117">
                  <a:extLst>
                    <a:ext uri="{9D8B030D-6E8A-4147-A177-3AD203B41FA5}">
                      <a16:colId xmlns:a16="http://schemas.microsoft.com/office/drawing/2014/main" val="1148554558"/>
                    </a:ext>
                  </a:extLst>
                </a:gridCol>
                <a:gridCol w="3604218">
                  <a:extLst>
                    <a:ext uri="{9D8B030D-6E8A-4147-A177-3AD203B41FA5}">
                      <a16:colId xmlns:a16="http://schemas.microsoft.com/office/drawing/2014/main" val="3467647075"/>
                    </a:ext>
                  </a:extLst>
                </a:gridCol>
                <a:gridCol w="3604218">
                  <a:extLst>
                    <a:ext uri="{9D8B030D-6E8A-4147-A177-3AD203B41FA5}">
                      <a16:colId xmlns:a16="http://schemas.microsoft.com/office/drawing/2014/main" val="3135435593"/>
                    </a:ext>
                  </a:extLst>
                </a:gridCol>
              </a:tblGrid>
              <a:tr h="355817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Theme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Findings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Source(s)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413985"/>
                  </a:ext>
                </a:extLst>
              </a:tr>
              <a:tr h="8410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Current Tech</a:t>
                      </a:r>
                      <a:endParaRPr lang="en-GB" sz="3600" dirty="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Existing chatbots are functionally basic, lacking diagnostic capabilities and evidence-based content.</a:t>
                      </a:r>
                      <a:endParaRPr lang="en-US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Ruggiano et al. (2021)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04342"/>
                  </a:ext>
                </a:extLst>
              </a:tr>
              <a:tr h="8410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User Needs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Users desire human-like AI with memory and personality but find current systems lack emotional depth.</a:t>
                      </a:r>
                      <a:endParaRPr lang="en-US" sz="3600" dirty="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Xygkou et al. (2024)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994362"/>
                  </a:ext>
                </a:extLst>
              </a:tr>
              <a:tr h="82714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Ethical Risks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AI poses "4D Risks": </a:t>
                      </a:r>
                      <a:r>
                        <a:rPr lang="fr-FR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</a:t>
                      </a:r>
                      <a:r>
                        <a:rPr lang="fr-FR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epersonalisation, </a:t>
                      </a:r>
                      <a:r>
                        <a:rPr lang="fr-FR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</a:t>
                      </a:r>
                      <a:r>
                        <a:rPr lang="fr-FR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iscrimination, </a:t>
                      </a:r>
                      <a:r>
                        <a:rPr lang="fr-FR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</a:t>
                      </a:r>
                      <a:r>
                        <a:rPr lang="fr-FR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ehumanisation, and </a:t>
                      </a:r>
                      <a:r>
                        <a:rPr lang="fr-FR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</a:t>
                      </a:r>
                      <a:r>
                        <a:rPr lang="fr-FR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isciplination.</a:t>
                      </a:r>
                      <a:endParaRPr lang="fr-FR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Rubeis (2020)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577426"/>
                  </a:ext>
                </a:extLst>
              </a:tr>
              <a:tr h="8410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Bias &amp; Oversight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"Human-in-the-loop" oversight is often ineffective at mitigating AI bias due to automation bias.</a:t>
                      </a:r>
                      <a:endParaRPr lang="en-US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Gaudeul et al. (2025)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661663"/>
                  </a:ext>
                </a:extLst>
              </a:tr>
              <a:tr h="72092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Consent &amp; Privacy</a:t>
                      </a:r>
                      <a:endParaRPr lang="en-GB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Securing informed consent is complex for users with declining cognitive capacity.</a:t>
                      </a:r>
                      <a:endParaRPr lang="en-US" sz="360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Ho (2020)</a:t>
                      </a:r>
                      <a:endParaRPr lang="en-GB" sz="3600" dirty="0">
                        <a:effectLst/>
                      </a:endParaRPr>
                    </a:p>
                  </a:txBody>
                  <a:tcPr marL="93243" marR="93243" marT="62162" marB="62162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00047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BF431-D3BE-E4BA-6C3C-73CEAA59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682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2987-4898-E0E2-B3C1-0771DD66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 Identifying the Gaps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92237-96C2-0E48-B584-A72FD48EB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From Companionship to Clinic:</a:t>
            </a:r>
            <a:r>
              <a:rPr lang="en-US" dirty="0"/>
              <a:t> A fundamental shift is needed from social support tools to clinically validated diagnostic aids.</a:t>
            </a:r>
          </a:p>
          <a:p>
            <a:pPr fontAlgn="base"/>
            <a:r>
              <a:rPr lang="en-US" b="1" dirty="0"/>
              <a:t>From Simulation to Reality:</a:t>
            </a:r>
            <a:r>
              <a:rPr lang="en-US" dirty="0"/>
              <a:t> Research must move beyond lab-based simulations to real-world validation with patients.</a:t>
            </a:r>
          </a:p>
          <a:p>
            <a:pPr fontAlgn="base"/>
            <a:r>
              <a:rPr lang="en-US" b="1" dirty="0"/>
              <a:t>From Black Box to Explainable AI (XAI):</a:t>
            </a:r>
            <a:r>
              <a:rPr lang="en-US" dirty="0"/>
              <a:t> Models must be transparent to build trust with clinicians and users.</a:t>
            </a:r>
          </a:p>
          <a:p>
            <a:r>
              <a:rPr lang="en-US" b="1" dirty="0"/>
              <a:t>From Tech-First to Human-</a:t>
            </a:r>
            <a:r>
              <a:rPr lang="en-US" b="1" dirty="0" err="1"/>
              <a:t>Centred</a:t>
            </a:r>
            <a:r>
              <a:rPr lang="en-US" b="1" dirty="0"/>
              <a:t>:</a:t>
            </a:r>
            <a:r>
              <a:rPr lang="en-US" dirty="0"/>
              <a:t> User needs, accessibility, and ethical governance must be integrated from the start, not as an afterthought.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BA23B-55C9-2045-9295-BA1D38FB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2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2C1C-16A3-2788-AB96-EFCDDCBE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Contribution to Knowledge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CCA00-D90A-0553-9A74-ECC82472A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Academic Contribution</a:t>
            </a:r>
            <a:endParaRPr lang="en-US" b="0" dirty="0">
              <a:effectLst/>
            </a:endParaRPr>
          </a:p>
          <a:p>
            <a:pPr fontAlgn="base"/>
            <a:r>
              <a:rPr lang="en-US" b="1" dirty="0"/>
              <a:t>Methodological Innovation:</a:t>
            </a:r>
            <a:r>
              <a:rPr lang="en-US" dirty="0"/>
              <a:t> Proposes one of the first comprehensive frameworks to systematically translate conversational data into clinical biomarkers.</a:t>
            </a:r>
          </a:p>
          <a:p>
            <a:pPr fontAlgn="base"/>
            <a:r>
              <a:rPr lang="en-US" b="1" dirty="0"/>
              <a:t>Interdisciplinary Model:</a:t>
            </a:r>
            <a:r>
              <a:rPr lang="en-US" dirty="0"/>
              <a:t> </a:t>
            </a:r>
            <a:r>
              <a:rPr lang="en-US" dirty="0" err="1"/>
              <a:t>Synthesises</a:t>
            </a:r>
            <a:r>
              <a:rPr lang="en-US" dirty="0"/>
              <a:t> computer science, clinical neurology, and ethics.</a:t>
            </a:r>
          </a:p>
          <a:p>
            <a:pPr marL="0" indent="0">
              <a:buNone/>
            </a:pPr>
            <a:r>
              <a:rPr lang="en-US" b="1" dirty="0"/>
              <a:t>2. Practical &amp; Industrial Contribution:</a:t>
            </a:r>
            <a:endParaRPr lang="en-US" b="0" dirty="0">
              <a:effectLst/>
            </a:endParaRPr>
          </a:p>
          <a:p>
            <a:pPr fontAlgn="base"/>
            <a:r>
              <a:rPr lang="en-US" b="1" dirty="0"/>
              <a:t>Clinical Roadmap:</a:t>
            </a:r>
            <a:r>
              <a:rPr lang="en-US" dirty="0"/>
              <a:t> Offer a pathway for integrating AI into NHS memory services as a screening and monitoring tool.</a:t>
            </a:r>
          </a:p>
          <a:p>
            <a:r>
              <a:rPr lang="en-US" b="1" dirty="0"/>
              <a:t>Ethical Blueprint:</a:t>
            </a:r>
            <a:r>
              <a:rPr lang="en-US" dirty="0"/>
              <a:t> Provides a governance model for the tech industry to build trustworthy and fair AI.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A3DDC-2287-2DF4-4476-80B37844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8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8DAB-C14A-47D0-9CD5-4E82CA35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Proposed Timeline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6F144-D1BD-14F8-B695-D7BC2AAA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1F5454D-65CD-7774-38FF-9364FAD9B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453996"/>
              </p:ext>
            </p:extLst>
          </p:nvPr>
        </p:nvGraphicFramePr>
        <p:xfrm>
          <a:off x="1349829" y="1759131"/>
          <a:ext cx="8699862" cy="4450080"/>
        </p:xfrm>
        <a:graphic>
          <a:graphicData uri="http://schemas.openxmlformats.org/drawingml/2006/table">
            <a:tbl>
              <a:tblPr/>
              <a:tblGrid>
                <a:gridCol w="2899954">
                  <a:extLst>
                    <a:ext uri="{9D8B030D-6E8A-4147-A177-3AD203B41FA5}">
                      <a16:colId xmlns:a16="http://schemas.microsoft.com/office/drawing/2014/main" val="678376944"/>
                    </a:ext>
                  </a:extLst>
                </a:gridCol>
                <a:gridCol w="2899954">
                  <a:extLst>
                    <a:ext uri="{9D8B030D-6E8A-4147-A177-3AD203B41FA5}">
                      <a16:colId xmlns:a16="http://schemas.microsoft.com/office/drawing/2014/main" val="4166183560"/>
                    </a:ext>
                  </a:extLst>
                </a:gridCol>
                <a:gridCol w="2899954">
                  <a:extLst>
                    <a:ext uri="{9D8B030D-6E8A-4147-A177-3AD203B41FA5}">
                      <a16:colId xmlns:a16="http://schemas.microsoft.com/office/drawing/2014/main" val="1094811520"/>
                    </a:ext>
                  </a:extLst>
                </a:gridCol>
              </a:tblGrid>
              <a:tr h="366276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</a:t>
                      </a:r>
                      <a:endParaRPr lang="en-GB" sz="3600" dirty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Duration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Activities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749820"/>
                  </a:ext>
                </a:extLst>
              </a:tr>
              <a:tr h="5652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1</a:t>
                      </a:r>
                      <a:endParaRPr lang="en-GB" sz="3600" b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 Months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Literature Review, Ethical Approval, Protocol Design</a:t>
                      </a:r>
                      <a:endParaRPr lang="en-US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276658"/>
                  </a:ext>
                </a:extLst>
              </a:tr>
              <a:tr h="5652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2</a:t>
                      </a:r>
                      <a:endParaRPr lang="en-GB" sz="3600" b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 Months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Collection, Stakeholder Interviews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916209"/>
                  </a:ext>
                </a:extLst>
              </a:tr>
              <a:tr h="7805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3</a:t>
                      </a:r>
                      <a:endParaRPr lang="en-GB" sz="3600" b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 Months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 Development, Feature Engineering, Quantitative Analysis</a:t>
                      </a:r>
                      <a:endParaRPr lang="en-US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525538"/>
                  </a:ext>
                </a:extLst>
              </a:tr>
              <a:tr h="131885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4</a:t>
                      </a:r>
                      <a:endParaRPr lang="en-GB" sz="3600" b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 Months</a:t>
                      </a:r>
                      <a:endParaRPr lang="en-GB" sz="3600">
                        <a:effectLst/>
                      </a:endParaRPr>
                    </a:p>
                    <a:p>
                      <a:pPr fontAlgn="t"/>
                      <a:br>
                        <a:rPr lang="en-GB" sz="3600">
                          <a:effectLst/>
                        </a:rPr>
                      </a:b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Framework Integration, Qualitative Analysis, Pilot Validation</a:t>
                      </a:r>
                      <a:endParaRPr lang="en-GB" sz="360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47258"/>
                  </a:ext>
                </a:extLst>
              </a:tr>
              <a:tr h="36627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Phase 5</a:t>
                      </a:r>
                      <a:endParaRPr lang="en-GB" sz="3600" b="0" dirty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 Months</a:t>
                      </a:r>
                      <a:endParaRPr lang="en-GB" sz="3600" dirty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Thesis Write-up, Dissemination</a:t>
                      </a:r>
                      <a:endParaRPr lang="en-GB" sz="3600" dirty="0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30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543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6932-58D4-EBEA-7647-AB3C1049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Potential Challenges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5BC9-1642-4261-42B4-DE70F84CA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2005012"/>
            <a:ext cx="10515600" cy="4351338"/>
          </a:xfrm>
        </p:spPr>
        <p:txBody>
          <a:bodyPr/>
          <a:lstStyle/>
          <a:p>
            <a:pPr fontAlgn="base"/>
            <a:r>
              <a:rPr lang="en-US" b="1" dirty="0"/>
              <a:t>Data Governance:</a:t>
            </a:r>
            <a:r>
              <a:rPr lang="en-US" dirty="0"/>
              <a:t> Navigating GDPR and securing sensitive health data.</a:t>
            </a:r>
          </a:p>
          <a:p>
            <a:pPr fontAlgn="base"/>
            <a:r>
              <a:rPr lang="en-US" b="1" dirty="0"/>
              <a:t>Ethical Recruitment:</a:t>
            </a:r>
            <a:r>
              <a:rPr lang="en-US" dirty="0"/>
              <a:t> Gaining informed, dynamic consent from a vulnerable population.</a:t>
            </a:r>
          </a:p>
          <a:p>
            <a:pPr fontAlgn="base"/>
            <a:r>
              <a:rPr lang="en-US" b="1" dirty="0"/>
              <a:t>Algorithmic Bias:</a:t>
            </a:r>
            <a:r>
              <a:rPr lang="en-US" dirty="0"/>
              <a:t> Ensuring the model is fair and does not discriminate.</a:t>
            </a:r>
          </a:p>
          <a:p>
            <a:r>
              <a:rPr lang="en-US" b="1" dirty="0"/>
              <a:t>The "Performance vs. Transparency" Trade-off:</a:t>
            </a:r>
            <a:r>
              <a:rPr lang="en-US" dirty="0"/>
              <a:t> Balancing model accuracy with the need for explainability.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2786-9C91-2724-B4C5-FF1245694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60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04B3-88AE-F828-BDEF-F48BB651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2ADC-2809-06E2-ED28-CF52C31E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research proposes a pragmatic, ethically-grounded framework to unlock the true potential of conversational AI in dementia care. By moving beyond simple companionship, we can create a powerful clinical decision support tool that enables:</a:t>
            </a:r>
          </a:p>
          <a:p>
            <a:pPr fontAlgn="base"/>
            <a:r>
              <a:rPr lang="en-US" b="1" dirty="0"/>
              <a:t>Early Detection</a:t>
            </a:r>
            <a:endParaRPr lang="en-US" dirty="0"/>
          </a:p>
          <a:p>
            <a:pPr fontAlgn="base"/>
            <a:r>
              <a:rPr lang="en-US" b="1" dirty="0"/>
              <a:t>Continuous Monitoring</a:t>
            </a:r>
            <a:endParaRPr lang="en-US" dirty="0"/>
          </a:p>
          <a:p>
            <a:pPr fontAlgn="base"/>
            <a:r>
              <a:rPr lang="en-US" b="1" dirty="0" err="1"/>
              <a:t>Personalised</a:t>
            </a:r>
            <a:r>
              <a:rPr lang="en-US" b="1" dirty="0"/>
              <a:t> Intervention</a:t>
            </a:r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D263-223C-F88C-C7DB-F8688EF2B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777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CC8B-28BF-BCB7-A5B0-F624FA87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1AA1A-A1C9-9A49-A571-DE70A3AF4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critical next step is the practical implementation and evaluation of the framework through a pilot study involving patients, caregivers, and clinicians to validate its accuracy, usability, and real-world impact.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8C156-81E7-25B9-88BB-0B6A8C0D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32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22F8-37DE-42E6-179E-05797F20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498" y="235068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EBB62-3DDA-BDFD-61EC-72667553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688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EF7A-AB34-6E67-594E-C81474BF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A4701-53A3-17D7-F859-59474416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8/1/2025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6B6250-F67E-EC59-90B0-3B4CBE0B7F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6954"/>
            <a:ext cx="110628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Gaudeul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et al. (2025).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Impact of Human-AI Interaction on Discrimination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European Commission.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Ho, A. (2020). Are we ready for artificial intelligence health monitoring in elder care?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BMC Geriatrics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Rubeis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G. (2020). The disruptive power of Artificial Intelligence.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Ethical aspects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gerontechnology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elderly care.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Archives of Gerontology and Geriatrics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Ruggiano, N., et al. (2021). Chatbots to support people with dementia and their caregivers: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Systematic review.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Medical Internet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Xygkou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et al. (2024).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MindTalker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Navigating the Complexities of AI-Enhanced Social Engagement for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with Early-Stage Dementia.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 Conference Proceedings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171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1185</Words>
  <Application>Microsoft Office PowerPoint</Application>
  <PresentationFormat>Widescreen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Google Sans Text</vt:lpstr>
      <vt:lpstr>Office Theme</vt:lpstr>
      <vt:lpstr>Modelling Cognitive Decline Through Conversation: A Data-Driven Framework for Dementia-Focused AI Agents</vt:lpstr>
      <vt:lpstr>What if our daily conversations held the key to tackling the UK's leading cause of death?</vt:lpstr>
      <vt:lpstr>Introduction: The Dementia Challenge &amp; AI's Untapped Potential</vt:lpstr>
      <vt:lpstr>Problem Statement</vt:lpstr>
      <vt:lpstr>Research Questions</vt:lpstr>
      <vt:lpstr>Research Aim &amp; Objectives</vt:lpstr>
      <vt:lpstr>Proposed Research Design: A Pragmatic Approach</vt:lpstr>
      <vt:lpstr>PowerPoint Presentation</vt:lpstr>
      <vt:lpstr>Literature Review: Key Findings</vt:lpstr>
      <vt:lpstr> Identifying the Gaps</vt:lpstr>
      <vt:lpstr>Contribution to Knowledge</vt:lpstr>
      <vt:lpstr>Proposed Timeline</vt:lpstr>
      <vt:lpstr>Potential Challenges</vt:lpstr>
      <vt:lpstr>Conclusion</vt:lpstr>
      <vt:lpstr>Future Work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Ene, Victor</dc:creator>
  <cp:lastModifiedBy>Ene, Victor</cp:lastModifiedBy>
  <cp:revision>3</cp:revision>
  <dcterms:created xsi:type="dcterms:W3CDTF">2025-08-01T15:00:24Z</dcterms:created>
  <dcterms:modified xsi:type="dcterms:W3CDTF">2025-08-01T18:33:12Z</dcterms:modified>
</cp:coreProperties>
</file>